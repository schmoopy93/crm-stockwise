
<file path=[Content_Types].xml><?xml version="1.0" encoding="utf-8"?>
<Types xmlns="http://schemas.openxmlformats.org/package/2006/content-types">
  <Override PartName="/ppt/slides/slide3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crm-inventory-chi.vercel.app" TargetMode="External"/><Relationship Id="rId4" Type="http://schemas.openxmlformats.org/officeDocument/2006/relationships/hyperlink" Target="https://crm-inventory-chi.vercel.app" TargetMode="External"/><Relationship Id="rId5" Type="http://schemas.openxmlformats.org/officeDocument/2006/relationships/hyperlink" Target="https://crm-inventory-chi.vercel.app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rm-inventory-chi.vercel.app" TargetMode="External"/><Relationship Id="rId3" Type="http://schemas.openxmlformats.org/officeDocument/2006/relationships/hyperlink" Target="https://crm-inventory-chi.vercel.ap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17B75359-749F-49B9-AD80-697F2A677F5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62000" y="571500"/>
            <a:ext cx="552450" cy="55245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17004968-5157-4E33-A3E9-07B59F45F829}"/>
              </a:ext>
            </a:extLst>
          </p:cNvPr>
          <p:cNvSpPr txBox="1"/>
          <p:nvPr/>
        </p:nvSpPr>
        <p:spPr>
          <a:xfrm>
            <a:off x="1447800" y="628650"/>
            <a:ext cx="3238500" cy="426720"/>
          </a:xfrm>
        </p:spPr>
        <p:txBody>
          <a:bodyPr wrap="square" rtlCol="0" lIns="0" tIns="0" rIns="0" bIns="0" anchor="t"/>
          <a:lstStyle/>
          <a:p>
            <a:pPr algn="l"/>
            <a:r>
              <a:rPr sz="2800" b="1">
                <a:solidFill>
                  <a:srgbClr val="F4F4F8"/>
                </a:solidFill>
                <a:latin typeface="Segoe UI Black"/>
                <a:ea typeface="Segoe UI Black"/>
              </a:rPr>
              <a:t>Logixia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FA5CE91-AA67-40DC-87CD-998A1C8BF1A0}"/>
              </a:ext>
            </a:extLst>
          </p:cNvPr>
          <p:cNvSpPr txBox="1"/>
          <p:nvPr/>
        </p:nvSpPr>
        <p:spPr>
          <a:xfrm>
            <a:off x="1447800" y="1028700"/>
            <a:ext cx="49530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050" b="1">
                <a:solidFill>
                  <a:srgbClr val="A7A7B8"/>
                </a:solidFill>
                <a:latin typeface="Segoe UI"/>
                <a:ea typeface="Segoe UI"/>
              </a:rPr>
              <a:t>UPRAVLJANJE ZALIHAMA · U REALNOM VREMENU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38D72F1-F5B0-429F-958F-F2432D0C6BB2}"/>
              </a:ext>
            </a:extLst>
          </p:cNvPr>
          <p:cNvSpPr txBox="1"/>
          <p:nvPr/>
        </p:nvSpPr>
        <p:spPr>
          <a:xfrm>
            <a:off x="762000" y="1790700"/>
            <a:ext cx="5286375" cy="1619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000" b="1">
                <a:solidFill>
                  <a:srgbClr val="F4F4F8"/>
                </a:solidFill>
                <a:latin typeface="Segoe UI"/>
                <a:ea typeface="Segoe UI"/>
              </a:rPr>
              <a:t>Sve zalihe vaše radnje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000" b="1">
                <a:solidFill>
                  <a:srgbClr val="B49CFF"/>
                </a:solidFill>
                <a:latin typeface="Segoe UI"/>
                <a:ea typeface="Segoe UI"/>
              </a:rPr>
              <a:t>na jednom mestu.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FCD115A-5F12-4766-BA08-EBE59724E6F4}"/>
              </a:ext>
            </a:extLst>
          </p:cNvPr>
          <p:cNvSpPr txBox="1"/>
          <p:nvPr/>
        </p:nvSpPr>
        <p:spPr>
          <a:xfrm>
            <a:off x="762000" y="3543300"/>
            <a:ext cx="5095875" cy="914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>
                <a:solidFill>
                  <a:srgbClr val="A7A7B8"/>
                </a:solidFill>
                <a:latin typeface="Segoe UI"/>
                <a:ea typeface="Segoe UI"/>
              </a:rPr>
              <a:t>Pratite stanje artikala, primajte robu, analizirajte kretanje i izvozite izveštaje — za vas i vaš tim.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ED571870-62C7-45D2-B71E-6704D5E8051F}"/>
              </a:ext>
            </a:extLst>
          </p:cNvPr>
          <p:cNvSpPr/>
          <p:nvPr/>
        </p:nvSpPr>
        <p:spPr>
          <a:xfrm>
            <a:off x="762000" y="4591050"/>
            <a:ext cx="1714500" cy="361950"/>
          </a:xfrm>
          <a:prstGeom prst="roundRect">
            <a:avLst/>
          </a:prstGeom>
          <a:solidFill>
            <a:srgbClr val="151522"/>
          </a:solidFill>
          <a:ln w="12700">
            <a:solidFill>
              <a:srgbClr val="2E2E44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050" b="1">
                <a:solidFill>
                  <a:srgbClr val="E9E9F2"/>
                </a:solidFill>
                <a:latin typeface="Segoe UI"/>
                <a:ea typeface="Segoe UI"/>
              </a:rPr>
              <a:t>Besplatno za početak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0F017860-EEE6-4858-9F70-151190EADD82}"/>
              </a:ext>
            </a:extLst>
          </p:cNvPr>
          <p:cNvSpPr/>
          <p:nvPr/>
        </p:nvSpPr>
        <p:spPr>
          <a:xfrm>
            <a:off x="2590800" y="4591050"/>
            <a:ext cx="1390650" cy="361950"/>
          </a:xfrm>
          <a:prstGeom prst="roundRect">
            <a:avLst/>
          </a:prstGeom>
          <a:solidFill>
            <a:srgbClr val="151522"/>
          </a:solidFill>
          <a:ln w="12700">
            <a:solidFill>
              <a:srgbClr val="2E2E44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050" b="1">
                <a:solidFill>
                  <a:srgbClr val="E9E9F2"/>
                </a:solidFill>
                <a:latin typeface="Segoe UI"/>
                <a:ea typeface="Segoe UI"/>
              </a:rPr>
              <a:t>Bez instalacije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5B9D315B-51F7-4590-9EFD-51302027CB94}"/>
              </a:ext>
            </a:extLst>
          </p:cNvPr>
          <p:cNvSpPr/>
          <p:nvPr/>
        </p:nvSpPr>
        <p:spPr>
          <a:xfrm>
            <a:off x="4095750" y="4591050"/>
            <a:ext cx="1524000" cy="361950"/>
          </a:xfrm>
          <a:prstGeom prst="roundRect">
            <a:avLst/>
          </a:prstGeom>
          <a:solidFill>
            <a:srgbClr val="151522"/>
          </a:solidFill>
          <a:ln w="12700">
            <a:solidFill>
              <a:srgbClr val="2E2E44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050" b="1">
                <a:solidFill>
                  <a:srgbClr val="E9E9F2"/>
                </a:solidFill>
                <a:latin typeface="Segoe UI"/>
                <a:ea typeface="Segoe UI"/>
              </a:rPr>
              <a:t>Radi na telefonu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EA95CC0B-0AC9-481C-A576-03259EEC56BF}"/>
              </a:ext>
            </a:extLst>
          </p:cNvPr>
          <p:cNvSpPr/>
          <p:nvPr/>
        </p:nvSpPr>
        <p:spPr>
          <a:xfrm>
            <a:off x="6286500" y="1143000"/>
            <a:ext cx="5143500" cy="4762500"/>
          </a:xfrm>
          <a:prstGeom prst="roundRect">
            <a:avLst/>
          </a:prstGeom>
          <a:solidFill>
            <a:srgbClr val="121220"/>
          </a:solidFill>
          <a:ln w="12700">
            <a:solidFill>
              <a:srgbClr val="2A2A3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A5F4C50-1505-48AB-9654-D5C385B8C7DD}"/>
              </a:ext>
            </a:extLst>
          </p:cNvPr>
          <p:cNvSpPr txBox="1"/>
          <p:nvPr/>
        </p:nvSpPr>
        <p:spPr>
          <a:xfrm>
            <a:off x="6515100" y="1352550"/>
            <a:ext cx="2095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F4F4F8"/>
                </a:solidFill>
                <a:latin typeface="Segoe UI"/>
                <a:ea typeface="Segoe UI"/>
              </a:rPr>
              <a:t>Pregled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A67A1B77-5ABB-4BCF-BB40-05328FCEFEF0}"/>
              </a:ext>
            </a:extLst>
          </p:cNvPr>
          <p:cNvSpPr/>
          <p:nvPr/>
        </p:nvSpPr>
        <p:spPr>
          <a:xfrm>
            <a:off x="6515100" y="1676400"/>
            <a:ext cx="1428750" cy="838200"/>
          </a:xfrm>
          <a:prstGeom prst="roundRect">
            <a:avLst/>
          </a:prstGeom>
          <a:solidFill>
            <a:srgbClr val="18182A"/>
          </a:solidFill>
          <a:ln w="12700">
            <a:solidFill>
              <a:srgbClr val="2626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E2A2BE79-98D9-4950-9A93-AB34F49A0A75}"/>
              </a:ext>
            </a:extLst>
          </p:cNvPr>
          <p:cNvSpPr/>
          <p:nvPr/>
        </p:nvSpPr>
        <p:spPr>
          <a:xfrm>
            <a:off x="8058150" y="1676400"/>
            <a:ext cx="1428750" cy="838200"/>
          </a:xfrm>
          <a:prstGeom prst="roundRect">
            <a:avLst/>
          </a:prstGeom>
          <a:solidFill>
            <a:srgbClr val="18182A"/>
          </a:solidFill>
          <a:ln w="12700">
            <a:solidFill>
              <a:srgbClr val="2626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89B97453-ADE9-4EBF-8B64-BFF17E07A383}"/>
              </a:ext>
            </a:extLst>
          </p:cNvPr>
          <p:cNvSpPr/>
          <p:nvPr/>
        </p:nvSpPr>
        <p:spPr>
          <a:xfrm>
            <a:off x="9601200" y="1676400"/>
            <a:ext cx="1428750" cy="838200"/>
          </a:xfrm>
          <a:prstGeom prst="roundRect">
            <a:avLst/>
          </a:prstGeom>
          <a:solidFill>
            <a:srgbClr val="18182A"/>
          </a:solidFill>
          <a:ln w="12700">
            <a:solidFill>
              <a:srgbClr val="2626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BC9CC500-2EF6-41C9-832A-B64EAF828706}"/>
              </a:ext>
            </a:extLst>
          </p:cNvPr>
          <p:cNvSpPr txBox="1"/>
          <p:nvPr/>
        </p:nvSpPr>
        <p:spPr>
          <a:xfrm>
            <a:off x="6648450" y="1809750"/>
            <a:ext cx="120015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F4F4F8"/>
                </a:solidFill>
                <a:latin typeface="Segoe UI"/>
                <a:ea typeface="Segoe UI"/>
              </a:rPr>
              <a:t>128.450</a:t>
            </a:r>
            <a:r>
              <a:rPr sz="900">
                <a:solidFill>
                  <a:srgbClr val="A7A7B8"/>
                </a:solidFill>
                <a:latin typeface="Segoe UI"/>
                <a:ea typeface="Segoe UI"/>
              </a:rPr>
              <a:t> RSD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BAA917E0-3F91-46D8-8AF4-39275BBD7CD5}"/>
              </a:ext>
            </a:extLst>
          </p:cNvPr>
          <p:cNvSpPr txBox="1"/>
          <p:nvPr/>
        </p:nvSpPr>
        <p:spPr>
          <a:xfrm>
            <a:off x="6648450" y="2152650"/>
            <a:ext cx="120015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900">
                <a:solidFill>
                  <a:srgbClr val="A7A7B8"/>
                </a:solidFill>
                <a:latin typeface="Segoe UI"/>
                <a:ea typeface="Segoe UI"/>
              </a:rPr>
              <a:t>Prihod </a:t>
            </a:r>
            <a:r>
              <a:rPr sz="900" b="1">
                <a:solidFill>
                  <a:srgbClr val="B49CFF"/>
                </a:solidFill>
                <a:latin typeface="Segoe UI"/>
                <a:ea typeface="Segoe UI"/>
              </a:rPr>
              <a:t>+12,4%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4A351B0D-7788-408C-A88D-C71F2F62CD96}"/>
              </a:ext>
            </a:extLst>
          </p:cNvPr>
          <p:cNvSpPr txBox="1"/>
          <p:nvPr/>
        </p:nvSpPr>
        <p:spPr>
          <a:xfrm>
            <a:off x="8191500" y="1809750"/>
            <a:ext cx="1143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F4F4F8"/>
                </a:solidFill>
                <a:latin typeface="Segoe UI"/>
                <a:ea typeface="Segoe UI"/>
              </a:rPr>
              <a:t>34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014CFFD7-5229-4357-BD64-1D25D6B74A81}"/>
              </a:ext>
            </a:extLst>
          </p:cNvPr>
          <p:cNvSpPr txBox="1"/>
          <p:nvPr/>
        </p:nvSpPr>
        <p:spPr>
          <a:xfrm>
            <a:off x="8191500" y="2152650"/>
            <a:ext cx="1143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900">
                <a:solidFill>
                  <a:srgbClr val="A7A7B8"/>
                </a:solidFill>
                <a:latin typeface="Segoe UI"/>
                <a:ea typeface="Segoe UI"/>
              </a:rPr>
              <a:t>Prodaja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68D36CD-6B69-4BBB-AE80-8ECDFC7811A5}"/>
              </a:ext>
            </a:extLst>
          </p:cNvPr>
          <p:cNvSpPr txBox="1"/>
          <p:nvPr/>
        </p:nvSpPr>
        <p:spPr>
          <a:xfrm>
            <a:off x="9734550" y="1809750"/>
            <a:ext cx="1143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F4F4F8"/>
                </a:solidFill>
                <a:latin typeface="Segoe UI"/>
                <a:ea typeface="Segoe UI"/>
              </a:rPr>
              <a:t>128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EEDCE47A-BA1C-4D6C-BA14-CD874E4F1CCD}"/>
              </a:ext>
            </a:extLst>
          </p:cNvPr>
          <p:cNvSpPr txBox="1"/>
          <p:nvPr/>
        </p:nvSpPr>
        <p:spPr>
          <a:xfrm>
            <a:off x="9734550" y="2152650"/>
            <a:ext cx="1143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900">
                <a:solidFill>
                  <a:srgbClr val="A7A7B8"/>
                </a:solidFill>
                <a:latin typeface="Segoe UI"/>
                <a:ea typeface="Segoe UI"/>
              </a:rPr>
              <a:t>Artikli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91385628-3114-46A7-9098-792608FBADB8}"/>
              </a:ext>
            </a:extLst>
          </p:cNvPr>
          <p:cNvSpPr/>
          <p:nvPr/>
        </p:nvSpPr>
        <p:spPr>
          <a:xfrm>
            <a:off x="6515100" y="4343400"/>
            <a:ext cx="4572000" cy="9525"/>
          </a:xfrm>
          <a:prstGeom prst="rect">
            <a:avLst/>
          </a:prstGeom>
          <a:solidFill>
            <a:srgbClr val="2A2A3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655465DB-DF1D-4D99-A3BD-D20FFBD87C5F}"/>
              </a:ext>
            </a:extLst>
          </p:cNvPr>
          <p:cNvSpPr/>
          <p:nvPr/>
        </p:nvSpPr>
        <p:spPr>
          <a:xfrm>
            <a:off x="6667500" y="3762375"/>
            <a:ext cx="361950" cy="581025"/>
          </a:xfrm>
          <a:prstGeom prst="rect">
            <a:avLst/>
          </a:prstGeom>
          <a:solidFill>
            <a:srgbClr val="6D5EF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994C9B7C-87FE-4D16-AED1-7074AB94AC54}"/>
              </a:ext>
            </a:extLst>
          </p:cNvPr>
          <p:cNvSpPr/>
          <p:nvPr/>
        </p:nvSpPr>
        <p:spPr>
          <a:xfrm>
            <a:off x="7315200" y="3552825"/>
            <a:ext cx="361950" cy="790575"/>
          </a:xfrm>
          <a:prstGeom prst="rect">
            <a:avLst/>
          </a:prstGeom>
          <a:solidFill>
            <a:srgbClr val="6D5EF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C2C93997-7DBE-4762-AC8D-B3FB1CBBEC53}"/>
              </a:ext>
            </a:extLst>
          </p:cNvPr>
          <p:cNvSpPr/>
          <p:nvPr/>
        </p:nvSpPr>
        <p:spPr>
          <a:xfrm>
            <a:off x="7962900" y="3857625"/>
            <a:ext cx="361950" cy="485775"/>
          </a:xfrm>
          <a:prstGeom prst="rect">
            <a:avLst/>
          </a:prstGeom>
          <a:solidFill>
            <a:srgbClr val="6D5EF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8622EA04-C3D4-42B5-9F93-4556F82BE273}"/>
              </a:ext>
            </a:extLst>
          </p:cNvPr>
          <p:cNvSpPr/>
          <p:nvPr/>
        </p:nvSpPr>
        <p:spPr>
          <a:xfrm>
            <a:off x="8610600" y="3381375"/>
            <a:ext cx="361950" cy="962025"/>
          </a:xfrm>
          <a:prstGeom prst="rect">
            <a:avLst/>
          </a:prstGeom>
          <a:solidFill>
            <a:srgbClr val="6D5EF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3DDDF9BD-F1A8-4A6B-A483-8BFC42ECD52B}"/>
              </a:ext>
            </a:extLst>
          </p:cNvPr>
          <p:cNvSpPr/>
          <p:nvPr/>
        </p:nvSpPr>
        <p:spPr>
          <a:xfrm>
            <a:off x="9258300" y="3657600"/>
            <a:ext cx="361950" cy="685800"/>
          </a:xfrm>
          <a:prstGeom prst="rect">
            <a:avLst/>
          </a:prstGeom>
          <a:solidFill>
            <a:srgbClr val="6D5EF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64E4FF9D-00DA-4332-90D9-558831F8B3D7}"/>
              </a:ext>
            </a:extLst>
          </p:cNvPr>
          <p:cNvSpPr/>
          <p:nvPr/>
        </p:nvSpPr>
        <p:spPr>
          <a:xfrm>
            <a:off x="9906000" y="3200400"/>
            <a:ext cx="361950" cy="1143000"/>
          </a:xfrm>
          <a:prstGeom prst="rect">
            <a:avLst/>
          </a:prstGeom>
          <a:solidFill>
            <a:srgbClr val="B49C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8874523A-47CB-4259-98E5-794C5AFD558D}"/>
              </a:ext>
            </a:extLst>
          </p:cNvPr>
          <p:cNvSpPr/>
          <p:nvPr/>
        </p:nvSpPr>
        <p:spPr>
          <a:xfrm>
            <a:off x="10553700" y="3476625"/>
            <a:ext cx="361950" cy="866775"/>
          </a:xfrm>
          <a:prstGeom prst="rect">
            <a:avLst/>
          </a:prstGeom>
          <a:solidFill>
            <a:srgbClr val="6D5EF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2F91121F-9779-4EE7-8F9F-5CBA89428559}"/>
              </a:ext>
            </a:extLst>
          </p:cNvPr>
          <p:cNvSpPr txBox="1"/>
          <p:nvPr/>
        </p:nvSpPr>
        <p:spPr>
          <a:xfrm>
            <a:off x="6515100" y="4476750"/>
            <a:ext cx="20955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850">
                <a:solidFill>
                  <a:srgbClr val="6F6F85"/>
                </a:solidFill>
                <a:latin typeface="Segoe UI"/>
                <a:ea typeface="Segoe UI"/>
              </a:rPr>
              <a:t>Poslednjih 7 dana</a:t>
            </a:r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D5F4F75E-7FDC-4B58-8540-047D3AE6D853}"/>
              </a:ext>
            </a:extLst>
          </p:cNvPr>
          <p:cNvSpPr/>
          <p:nvPr/>
        </p:nvSpPr>
        <p:spPr>
          <a:xfrm>
            <a:off x="8305800" y="4819650"/>
            <a:ext cx="2857500" cy="590550"/>
          </a:xfrm>
          <a:prstGeom prst="roundRect">
            <a:avLst/>
          </a:prstGeom>
          <a:solidFill>
            <a:srgbClr val="1D1D30"/>
          </a:solidFill>
          <a:ln w="12700">
            <a:solidFill>
              <a:srgbClr val="34344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E05F0788-A82B-4FA6-A36A-42F2F073EA3C}"/>
              </a:ext>
            </a:extLst>
          </p:cNvPr>
          <p:cNvSpPr txBox="1"/>
          <p:nvPr/>
        </p:nvSpPr>
        <p:spPr>
          <a:xfrm>
            <a:off x="8477250" y="4914900"/>
            <a:ext cx="25146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50" b="1">
                <a:solidFill>
                  <a:srgbClr val="F4F4F8"/>
                </a:solidFill>
                <a:latin typeface="Segoe UI"/>
                <a:ea typeface="Segoe UI"/>
              </a:rPr>
              <a:t>Nova prodaja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82367CF5-0D5F-4CE4-A481-9E11A4857B5C}"/>
              </a:ext>
            </a:extLst>
          </p:cNvPr>
          <p:cNvSpPr txBox="1"/>
          <p:nvPr/>
        </p:nvSpPr>
        <p:spPr>
          <a:xfrm>
            <a:off x="8477250" y="5114925"/>
            <a:ext cx="25146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900">
                <a:solidFill>
                  <a:srgbClr val="B49CFF"/>
                </a:solidFill>
                <a:latin typeface="Segoe UI"/>
                <a:ea typeface="Segoe UI"/>
              </a:rPr>
              <a:t>Prodavnica · +1.980 RSD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A09D102B-B957-4DB3-B483-EDD892B32B7A}"/>
              </a:ext>
            </a:extLst>
          </p:cNvPr>
          <p:cNvSpPr txBox="1"/>
          <p:nvPr/>
        </p:nvSpPr>
        <p:spPr>
          <a:xfrm>
            <a:off x="6515100" y="5562600"/>
            <a:ext cx="22860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850">
                <a:solidFill>
                  <a:srgbClr val="6F6F85"/>
                </a:solidFill>
                <a:latin typeface="Segoe UI"/>
                <a:ea typeface="Segoe UI"/>
              </a:rPr>
              <a:t>Prikaz interfejsa</a:t>
            </a:r>
          </a:p>
        </p:txBody>
      </p:sp>
      <p:sp>
        <p:nvSpPr>
          <p:cNvPr id="35" name="Shape 35">
            <a:hlinkClick xmlns:r="http://schemas.openxmlformats.org/officeDocument/2006/relationships" r:id="rId3"/>
            <a:extLst>
              <a:ext uri="{FF2B5EF4-FFF2-40B4-BE49-F238E27FC236}">
                <a16:creationId xmlns:a16="http://schemas.microsoft.com/office/drawing/2014/main" id="{333DB257-36F6-479F-8439-F94DD711E9AF}"/>
              </a:ext>
            </a:extLst>
          </p:cNvPr>
          <p:cNvSpPr/>
          <p:nvPr/>
        </p:nvSpPr>
        <p:spPr>
          <a:xfrm>
            <a:off x="762000" y="6134100"/>
            <a:ext cx="10668000" cy="533400"/>
          </a:xfrm>
          <a:prstGeom prst="roundRect">
            <a:avLst/>
          </a:prstGeom>
          <a:solidFill>
            <a:srgbClr val="6D5EF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6" name="TextBox 36">
            <a:hlinkClick xmlns:r="http://schemas.openxmlformats.org/officeDocument/2006/relationships" r:id="rId4"/>
            <a:extLst>
              <a:ext uri="{FF2B5EF4-FFF2-40B4-BE49-F238E27FC236}">
                <a16:creationId xmlns:a16="http://schemas.microsoft.com/office/drawing/2014/main" id="{63E241B8-ADBA-48B8-A2BB-CCC05DFE29D5}"/>
              </a:ext>
            </a:extLst>
          </p:cNvPr>
          <p:cNvSpPr txBox="1"/>
          <p:nvPr/>
        </p:nvSpPr>
        <p:spPr>
          <a:xfrm>
            <a:off x="1028700" y="6267450"/>
            <a:ext cx="49530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  <a:ea typeface="Segoe UI"/>
              </a:rPr>
              <a:t>Započnite besplatno  →</a:t>
            </a:r>
          </a:p>
        </p:txBody>
      </p:sp>
      <p:sp>
        <p:nvSpPr>
          <p:cNvPr id="37" name="TextBox 37">
            <a:hlinkClick xmlns:r="http://schemas.openxmlformats.org/officeDocument/2006/relationships" r:id="rId5"/>
            <a:extLst>
              <a:ext uri="{FF2B5EF4-FFF2-40B4-BE49-F238E27FC236}">
                <a16:creationId xmlns:a16="http://schemas.microsoft.com/office/drawing/2014/main" id="{B8963E9B-F020-4042-9C63-6CDCB44BBEBE}"/>
              </a:ext>
            </a:extLst>
          </p:cNvPr>
          <p:cNvSpPr txBox="1"/>
          <p:nvPr/>
        </p:nvSpPr>
        <p:spPr>
          <a:xfrm>
            <a:off x="5905500" y="6296025"/>
            <a:ext cx="5219700" cy="228600"/>
          </a:xfrm>
        </p:spPr>
        <p:txBody>
          <a:bodyPr wrap="square" rtlCol="0" lIns="0" tIns="0" rIns="0" bIns="0" anchor="t"/>
          <a:lstStyle/>
          <a:p>
            <a:pPr algn="r"/>
            <a:r>
              <a:rPr sz="1050" b="1">
                <a:solidFill>
                  <a:srgbClr val="EDE9FE"/>
                </a:solidFill>
                <a:latin typeface="Segoe UI"/>
                <a:ea typeface="Segoe UI"/>
              </a:rPr>
              <a:t>crm-inventory-chi.vercel.app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C143CA81-4645-431D-B5AB-8C8C7541DFED}"/>
              </a:ext>
            </a:extLst>
          </p:cNvPr>
          <p:cNvSpPr txBox="1"/>
          <p:nvPr/>
        </p:nvSpPr>
        <p:spPr>
          <a:xfrm>
            <a:off x="762000" y="419100"/>
            <a:ext cx="8763000" cy="4953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4F4F8"/>
                </a:solidFill>
                <a:latin typeface="Segoe UI"/>
                <a:ea typeface="Segoe UI"/>
              </a:rPr>
              <a:t>Sve što vašoj radnji treba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C2A9AFE-782A-4C32-AE59-7643A2A3902F}"/>
              </a:ext>
            </a:extLst>
          </p:cNvPr>
          <p:cNvSpPr txBox="1"/>
          <p:nvPr/>
        </p:nvSpPr>
        <p:spPr>
          <a:xfrm>
            <a:off x="762000" y="971550"/>
            <a:ext cx="8763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A7A7B8"/>
                </a:solidFill>
                <a:latin typeface="Segoe UI"/>
                <a:ea typeface="Segoe UI"/>
              </a:rPr>
              <a:t>Od prvog artikla do jasnih izveštaja.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65415359-AC43-4561-8466-4968C89E9DBE}"/>
              </a:ext>
            </a:extLst>
          </p:cNvPr>
          <p:cNvSpPr/>
          <p:nvPr/>
        </p:nvSpPr>
        <p:spPr>
          <a:xfrm>
            <a:off x="762000" y="1485900"/>
            <a:ext cx="3429000" cy="1485900"/>
          </a:xfrm>
          <a:prstGeom prst="roundRect">
            <a:avLst/>
          </a:prstGeom>
          <a:solidFill>
            <a:srgbClr val="151522"/>
          </a:solidFill>
          <a:ln w="12700">
            <a:solidFill>
              <a:srgbClr val="2A2A3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EFF10EE-1842-49EE-B5F4-3E380DA6A6AA}"/>
              </a:ext>
            </a:extLst>
          </p:cNvPr>
          <p:cNvSpPr txBox="1"/>
          <p:nvPr/>
        </p:nvSpPr>
        <p:spPr>
          <a:xfrm>
            <a:off x="952500" y="1638300"/>
            <a:ext cx="5715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49CFF"/>
                </a:solidFill>
                <a:latin typeface="Segoe UI"/>
                <a:ea typeface="Segoe UI"/>
              </a:rPr>
              <a:t>01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460BA6D-2253-4081-8E2A-2B9C84639701}"/>
              </a:ext>
            </a:extLst>
          </p:cNvPr>
          <p:cNvSpPr txBox="1"/>
          <p:nvPr/>
        </p:nvSpPr>
        <p:spPr>
          <a:xfrm>
            <a:off x="952500" y="1847850"/>
            <a:ext cx="3048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4F4F8"/>
                </a:solidFill>
                <a:latin typeface="Segoe UI"/>
                <a:ea typeface="Segoe UI"/>
              </a:rPr>
              <a:t>Artikli i zalihe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42CB15D-F196-4DD5-B640-E23DC2D9F72C}"/>
              </a:ext>
            </a:extLst>
          </p:cNvPr>
          <p:cNvSpPr txBox="1"/>
          <p:nvPr/>
        </p:nvSpPr>
        <p:spPr>
          <a:xfrm>
            <a:off x="952500" y="2133600"/>
            <a:ext cx="30480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>
                <a:solidFill>
                  <a:srgbClr val="A7A7B8"/>
                </a:solidFill>
                <a:latin typeface="Segoe UI"/>
                <a:ea typeface="Segoe UI"/>
              </a:rPr>
              <a:t>Kategorije, slike, SKU, cene, varijante i prilagođena polja — sve na jednom mestu.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DF3B53A9-AC1A-4066-88B1-A84411DFE881}"/>
              </a:ext>
            </a:extLst>
          </p:cNvPr>
          <p:cNvSpPr/>
          <p:nvPr/>
        </p:nvSpPr>
        <p:spPr>
          <a:xfrm>
            <a:off x="4381500" y="1485900"/>
            <a:ext cx="3429000" cy="1485900"/>
          </a:xfrm>
          <a:prstGeom prst="roundRect">
            <a:avLst/>
          </a:prstGeom>
          <a:solidFill>
            <a:srgbClr val="151522"/>
          </a:solidFill>
          <a:ln w="12700">
            <a:solidFill>
              <a:srgbClr val="2A2A3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1461146-1B0C-4C1D-9904-1809F775E584}"/>
              </a:ext>
            </a:extLst>
          </p:cNvPr>
          <p:cNvSpPr txBox="1"/>
          <p:nvPr/>
        </p:nvSpPr>
        <p:spPr>
          <a:xfrm>
            <a:off x="4572000" y="1638300"/>
            <a:ext cx="5715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49CFF"/>
                </a:solidFill>
                <a:latin typeface="Segoe UI"/>
                <a:ea typeface="Segoe UI"/>
              </a:rPr>
              <a:t>02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E1689AA-9FA4-4B7E-A3E3-0B3D8E7E475F}"/>
              </a:ext>
            </a:extLst>
          </p:cNvPr>
          <p:cNvSpPr txBox="1"/>
          <p:nvPr/>
        </p:nvSpPr>
        <p:spPr>
          <a:xfrm>
            <a:off x="4572000" y="1847850"/>
            <a:ext cx="3048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4F4F8"/>
                </a:solidFill>
                <a:latin typeface="Segoe UI"/>
                <a:ea typeface="Segoe UI"/>
              </a:rPr>
              <a:t>Prijem robe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7DEECC3-CB1E-4685-92F9-FF00591E3979}"/>
              </a:ext>
            </a:extLst>
          </p:cNvPr>
          <p:cNvSpPr txBox="1"/>
          <p:nvPr/>
        </p:nvSpPr>
        <p:spPr>
          <a:xfrm>
            <a:off x="4572000" y="2133600"/>
            <a:ext cx="30480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>
                <a:solidFill>
                  <a:srgbClr val="A7A7B8"/>
                </a:solidFill>
                <a:latin typeface="Segoe UI"/>
                <a:ea typeface="Segoe UI"/>
              </a:rPr>
              <a:t>Pretraga ili skeniranje barkoda; stanje zaliha se ažurira odmah.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EF69E6C7-D57F-41C4-B22C-64434F503591}"/>
              </a:ext>
            </a:extLst>
          </p:cNvPr>
          <p:cNvSpPr/>
          <p:nvPr/>
        </p:nvSpPr>
        <p:spPr>
          <a:xfrm>
            <a:off x="8001000" y="1485900"/>
            <a:ext cx="3429000" cy="1485900"/>
          </a:xfrm>
          <a:prstGeom prst="roundRect">
            <a:avLst/>
          </a:prstGeom>
          <a:solidFill>
            <a:srgbClr val="151522"/>
          </a:solidFill>
          <a:ln w="12700">
            <a:solidFill>
              <a:srgbClr val="2A2A3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FAAB5EB-35E2-4818-93A3-359FE4AC1B0D}"/>
              </a:ext>
            </a:extLst>
          </p:cNvPr>
          <p:cNvSpPr txBox="1"/>
          <p:nvPr/>
        </p:nvSpPr>
        <p:spPr>
          <a:xfrm>
            <a:off x="8191500" y="1638300"/>
            <a:ext cx="5715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49CFF"/>
                </a:solidFill>
                <a:latin typeface="Segoe UI"/>
                <a:ea typeface="Segoe UI"/>
              </a:rPr>
              <a:t>03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F7FC932-8B68-4957-837C-259824A1DA14}"/>
              </a:ext>
            </a:extLst>
          </p:cNvPr>
          <p:cNvSpPr txBox="1"/>
          <p:nvPr/>
        </p:nvSpPr>
        <p:spPr>
          <a:xfrm>
            <a:off x="8191500" y="1847850"/>
            <a:ext cx="3048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4F4F8"/>
                </a:solidFill>
                <a:latin typeface="Segoe UI"/>
                <a:ea typeface="Segoe UI"/>
              </a:rPr>
              <a:t>Prodaja i storno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ADC858D2-7546-4325-86F9-A937B03E0141}"/>
              </a:ext>
            </a:extLst>
          </p:cNvPr>
          <p:cNvSpPr txBox="1"/>
          <p:nvPr/>
        </p:nvSpPr>
        <p:spPr>
          <a:xfrm>
            <a:off x="8191500" y="2133600"/>
            <a:ext cx="30480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>
                <a:solidFill>
                  <a:srgbClr val="A7A7B8"/>
                </a:solidFill>
                <a:latin typeface="Segoe UI"/>
                <a:ea typeface="Segoe UI"/>
              </a:rPr>
              <a:t>Prodaje po kupcu i kanalu, automatsko stanje i jednostavan storno.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ACDA72DD-9ABA-43BF-ADD9-92E5C1DB394E}"/>
              </a:ext>
            </a:extLst>
          </p:cNvPr>
          <p:cNvSpPr/>
          <p:nvPr/>
        </p:nvSpPr>
        <p:spPr>
          <a:xfrm>
            <a:off x="762000" y="3124200"/>
            <a:ext cx="3429000" cy="1485900"/>
          </a:xfrm>
          <a:prstGeom prst="roundRect">
            <a:avLst/>
          </a:prstGeom>
          <a:solidFill>
            <a:srgbClr val="151522"/>
          </a:solidFill>
          <a:ln w="12700">
            <a:solidFill>
              <a:srgbClr val="2A2A3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2953A0B8-E021-480E-A240-E8226C704BD2}"/>
              </a:ext>
            </a:extLst>
          </p:cNvPr>
          <p:cNvSpPr txBox="1"/>
          <p:nvPr/>
        </p:nvSpPr>
        <p:spPr>
          <a:xfrm>
            <a:off x="952500" y="3276600"/>
            <a:ext cx="5715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49CFF"/>
                </a:solidFill>
                <a:latin typeface="Segoe UI"/>
                <a:ea typeface="Segoe UI"/>
              </a:rPr>
              <a:t>04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693151F8-0EA9-4CCC-B013-63C7487EEE24}"/>
              </a:ext>
            </a:extLst>
          </p:cNvPr>
          <p:cNvSpPr txBox="1"/>
          <p:nvPr/>
        </p:nvSpPr>
        <p:spPr>
          <a:xfrm>
            <a:off x="952500" y="3486150"/>
            <a:ext cx="3048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4F4F8"/>
                </a:solidFill>
                <a:latin typeface="Segoe UI"/>
                <a:ea typeface="Segoe UI"/>
              </a:rPr>
              <a:t>Porudžbine i kupci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A4F8D81E-CE2C-44D6-ADC5-3AA382CE7C05}"/>
              </a:ext>
            </a:extLst>
          </p:cNvPr>
          <p:cNvSpPr txBox="1"/>
          <p:nvPr/>
        </p:nvSpPr>
        <p:spPr>
          <a:xfrm>
            <a:off x="952500" y="3771900"/>
            <a:ext cx="30480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>
                <a:solidFill>
                  <a:srgbClr val="A7A7B8"/>
                </a:solidFill>
                <a:latin typeface="Segoe UI"/>
                <a:ea typeface="Segoe UI"/>
              </a:rPr>
              <a:t>Statusi, delimična isporuka i razgovori sa kupcima iz kataloga.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E3A09671-1BF8-4A3F-AE33-E86E2E260149}"/>
              </a:ext>
            </a:extLst>
          </p:cNvPr>
          <p:cNvSpPr/>
          <p:nvPr/>
        </p:nvSpPr>
        <p:spPr>
          <a:xfrm>
            <a:off x="4381500" y="3124200"/>
            <a:ext cx="3429000" cy="1485900"/>
          </a:xfrm>
          <a:prstGeom prst="roundRect">
            <a:avLst/>
          </a:prstGeom>
          <a:solidFill>
            <a:srgbClr val="151522"/>
          </a:solidFill>
          <a:ln w="12700">
            <a:solidFill>
              <a:srgbClr val="2A2A3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89001E7B-C697-471B-ADCC-D5C834840BDD}"/>
              </a:ext>
            </a:extLst>
          </p:cNvPr>
          <p:cNvSpPr txBox="1"/>
          <p:nvPr/>
        </p:nvSpPr>
        <p:spPr>
          <a:xfrm>
            <a:off x="4572000" y="3276600"/>
            <a:ext cx="5715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49CFF"/>
                </a:solidFill>
                <a:latin typeface="Segoe UI"/>
                <a:ea typeface="Segoe UI"/>
              </a:rPr>
              <a:t>05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596EE6C9-F416-46CD-BCB3-8F002AB45BA7}"/>
              </a:ext>
            </a:extLst>
          </p:cNvPr>
          <p:cNvSpPr txBox="1"/>
          <p:nvPr/>
        </p:nvSpPr>
        <p:spPr>
          <a:xfrm>
            <a:off x="4572000" y="3486150"/>
            <a:ext cx="3048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4F4F8"/>
                </a:solidFill>
                <a:latin typeface="Segoe UI"/>
                <a:ea typeface="Segoe UI"/>
              </a:rPr>
              <a:t>Javni katalog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BF430457-4D9E-4FFF-8AE6-DB7DF2E62BE1}"/>
              </a:ext>
            </a:extLst>
          </p:cNvPr>
          <p:cNvSpPr txBox="1"/>
          <p:nvPr/>
        </p:nvSpPr>
        <p:spPr>
          <a:xfrm>
            <a:off x="4572000" y="3771900"/>
            <a:ext cx="30480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>
                <a:solidFill>
                  <a:srgbClr val="A7A7B8"/>
                </a:solidFill>
                <a:latin typeface="Segoe UI"/>
                <a:ea typeface="Segoe UI"/>
              </a:rPr>
              <a:t>Podelite link na Instagramu; kupci biraju varijante i poručuju ili pitaju.</a:t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D3BA5F16-AFCD-496D-B624-E5FDA1D8D67B}"/>
              </a:ext>
            </a:extLst>
          </p:cNvPr>
          <p:cNvSpPr/>
          <p:nvPr/>
        </p:nvSpPr>
        <p:spPr>
          <a:xfrm>
            <a:off x="8001000" y="3124200"/>
            <a:ext cx="3429000" cy="1485900"/>
          </a:xfrm>
          <a:prstGeom prst="roundRect">
            <a:avLst/>
          </a:prstGeom>
          <a:solidFill>
            <a:srgbClr val="151522"/>
          </a:solidFill>
          <a:ln w="12700">
            <a:solidFill>
              <a:srgbClr val="2A2A3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1C41E7EB-FC76-4856-9913-755709A0D67E}"/>
              </a:ext>
            </a:extLst>
          </p:cNvPr>
          <p:cNvSpPr txBox="1"/>
          <p:nvPr/>
        </p:nvSpPr>
        <p:spPr>
          <a:xfrm>
            <a:off x="8191500" y="3276600"/>
            <a:ext cx="5715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49CFF"/>
                </a:solidFill>
                <a:latin typeface="Segoe UI"/>
                <a:ea typeface="Segoe UI"/>
              </a:rPr>
              <a:t>06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26223A66-A99F-4250-B74D-78470011487A}"/>
              </a:ext>
            </a:extLst>
          </p:cNvPr>
          <p:cNvSpPr txBox="1"/>
          <p:nvPr/>
        </p:nvSpPr>
        <p:spPr>
          <a:xfrm>
            <a:off x="8191500" y="3486150"/>
            <a:ext cx="3048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4F4F8"/>
                </a:solidFill>
                <a:latin typeface="Segoe UI"/>
                <a:ea typeface="Segoe UI"/>
              </a:rPr>
              <a:t>Analitika i izveštaji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187B85F4-7719-40AD-AE18-BA92E1319597}"/>
              </a:ext>
            </a:extLst>
          </p:cNvPr>
          <p:cNvSpPr txBox="1"/>
          <p:nvPr/>
        </p:nvSpPr>
        <p:spPr>
          <a:xfrm>
            <a:off x="8191500" y="3771900"/>
            <a:ext cx="30480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>
                <a:solidFill>
                  <a:srgbClr val="A7A7B8"/>
                </a:solidFill>
                <a:latin typeface="Segoe UI"/>
                <a:ea typeface="Segoe UI"/>
              </a:rPr>
              <a:t>Zalihe, prodaja, prihod i najaktivniji artikli; uvoz, izvoz i PDF izveštaji.</a:t>
            </a:r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AAD43FD0-5972-4F93-8839-FE2E0ECE976F}"/>
              </a:ext>
            </a:extLst>
          </p:cNvPr>
          <p:cNvSpPr/>
          <p:nvPr/>
        </p:nvSpPr>
        <p:spPr>
          <a:xfrm>
            <a:off x="762000" y="4857750"/>
            <a:ext cx="10668000" cy="819150"/>
          </a:xfrm>
          <a:prstGeom prst="roundRect">
            <a:avLst/>
          </a:prstGeom>
          <a:solidFill>
            <a:srgbClr val="121220"/>
          </a:solidFill>
          <a:ln w="12700">
            <a:solidFill>
              <a:srgbClr val="2A2A3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4A0D2481-2A9E-4A28-807D-B0310DEDD414}"/>
              </a:ext>
            </a:extLst>
          </p:cNvPr>
          <p:cNvSpPr txBox="1"/>
          <p:nvPr/>
        </p:nvSpPr>
        <p:spPr>
          <a:xfrm>
            <a:off x="990600" y="4972050"/>
            <a:ext cx="28575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900" b="1">
                <a:solidFill>
                  <a:srgbClr val="B49CFF"/>
                </a:solidFill>
                <a:latin typeface="Segoe UI"/>
                <a:ea typeface="Segoe UI"/>
              </a:rPr>
              <a:t>JOŠ U PAKETU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28896928-876F-4064-B2CB-ED645ED79E6A}"/>
              </a:ext>
            </a:extLst>
          </p:cNvPr>
          <p:cNvSpPr txBox="1"/>
          <p:nvPr/>
        </p:nvSpPr>
        <p:spPr>
          <a:xfrm>
            <a:off x="990600" y="5181600"/>
            <a:ext cx="10210800" cy="38100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A7A7B8"/>
                </a:solidFill>
                <a:latin typeface="Segoe UI"/>
                <a:ea typeface="Segoe UI"/>
              </a:rPr>
              <a:t>Skeniranje barkoda · Audit dnevnik · Tim i dozvole · 6 jezika · Tamna i svetla tema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8464391C-D677-402B-B912-6B44627B9422}"/>
              </a:ext>
            </a:extLst>
          </p:cNvPr>
          <p:cNvSpPr txBox="1"/>
          <p:nvPr/>
        </p:nvSpPr>
        <p:spPr>
          <a:xfrm>
            <a:off x="762000" y="6438900"/>
            <a:ext cx="10668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900">
                <a:solidFill>
                  <a:srgbClr val="6F6F85"/>
                </a:solidFill>
                <a:latin typeface="Segoe UI"/>
                <a:ea typeface="Segoe UI"/>
              </a:rPr>
              <a:t>Logixia · crm-inventory-chi.vercel.app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AC8BD6E-5552-4D61-B438-78D91D1D8F5C}"/>
              </a:ext>
            </a:extLst>
          </p:cNvPr>
          <p:cNvSpPr txBox="1"/>
          <p:nvPr/>
        </p:nvSpPr>
        <p:spPr>
          <a:xfrm>
            <a:off x="762000" y="419100"/>
            <a:ext cx="8763000" cy="50292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4F4F8"/>
                </a:solidFill>
                <a:latin typeface="Segoe UI"/>
                <a:ea typeface="Segoe UI"/>
              </a:rPr>
              <a:t>Kako funkcioniše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E5D4F07-74A9-4629-B946-A3AF216FD29F}"/>
              </a:ext>
            </a:extLst>
          </p:cNvPr>
          <p:cNvSpPr txBox="1"/>
          <p:nvPr/>
        </p:nvSpPr>
        <p:spPr>
          <a:xfrm>
            <a:off x="762000" y="971550"/>
            <a:ext cx="87630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A7A7B8"/>
                </a:solidFill>
                <a:latin typeface="Segoe UI"/>
                <a:ea typeface="Segoe UI"/>
              </a:rPr>
              <a:t>Od prve postavke do jasne slike o poslovanju — u tri koraka.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E1DC8E9B-4267-4129-85F4-CD28BF72655F}"/>
              </a:ext>
            </a:extLst>
          </p:cNvPr>
          <p:cNvSpPr/>
          <p:nvPr/>
        </p:nvSpPr>
        <p:spPr>
          <a:xfrm>
            <a:off x="762000" y="1485900"/>
            <a:ext cx="3429000" cy="1962150"/>
          </a:xfrm>
          <a:prstGeom prst="roundRect">
            <a:avLst/>
          </a:prstGeom>
          <a:solidFill>
            <a:srgbClr val="151522"/>
          </a:solidFill>
          <a:ln w="12700">
            <a:solidFill>
              <a:srgbClr val="2A2A3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4A70222-B82E-4B34-B75B-DF44C23095CC}"/>
              </a:ext>
            </a:extLst>
          </p:cNvPr>
          <p:cNvSpPr txBox="1"/>
          <p:nvPr/>
        </p:nvSpPr>
        <p:spPr>
          <a:xfrm>
            <a:off x="952500" y="1638300"/>
            <a:ext cx="5715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49CFF"/>
                </a:solidFill>
                <a:latin typeface="Segoe UI"/>
                <a:ea typeface="Segoe UI"/>
              </a:rPr>
              <a:t>01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91A82B0-B027-4F10-B352-AC73F8BD9EDD}"/>
              </a:ext>
            </a:extLst>
          </p:cNvPr>
          <p:cNvSpPr txBox="1"/>
          <p:nvPr/>
        </p:nvSpPr>
        <p:spPr>
          <a:xfrm>
            <a:off x="952500" y="1866900"/>
            <a:ext cx="3048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4F4F8"/>
                </a:solidFill>
                <a:latin typeface="Segoe UI"/>
                <a:ea typeface="Segoe UI"/>
              </a:rPr>
              <a:t>Otvorite radnju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4695A87-8149-462E-9597-EA527664C43A}"/>
              </a:ext>
            </a:extLst>
          </p:cNvPr>
          <p:cNvSpPr txBox="1"/>
          <p:nvPr/>
        </p:nvSpPr>
        <p:spPr>
          <a:xfrm>
            <a:off x="952500" y="2190750"/>
            <a:ext cx="3048000" cy="952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100">
                <a:solidFill>
                  <a:srgbClr val="A7A7B8"/>
                </a:solidFill>
                <a:latin typeface="Segoe UI"/>
                <a:ea typeface="Segoe UI"/>
              </a:rPr>
              <a:t>Registrujte se Google nalogom i odmah dobijate svoj Shop ID.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2644699A-3C7F-43EA-B85D-215A3134C290}"/>
              </a:ext>
            </a:extLst>
          </p:cNvPr>
          <p:cNvSpPr/>
          <p:nvPr/>
        </p:nvSpPr>
        <p:spPr>
          <a:xfrm>
            <a:off x="4381500" y="1485900"/>
            <a:ext cx="3429000" cy="1962150"/>
          </a:xfrm>
          <a:prstGeom prst="roundRect">
            <a:avLst/>
          </a:prstGeom>
          <a:solidFill>
            <a:srgbClr val="151522"/>
          </a:solidFill>
          <a:ln w="12700">
            <a:solidFill>
              <a:srgbClr val="2A2A3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DA55E93-9FBA-43FD-93C9-BCD469933F01}"/>
              </a:ext>
            </a:extLst>
          </p:cNvPr>
          <p:cNvSpPr txBox="1"/>
          <p:nvPr/>
        </p:nvSpPr>
        <p:spPr>
          <a:xfrm>
            <a:off x="4572000" y="1638300"/>
            <a:ext cx="5715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49CFF"/>
                </a:solidFill>
                <a:latin typeface="Segoe UI"/>
                <a:ea typeface="Segoe UI"/>
              </a:rPr>
              <a:t>02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3B03734-B97C-4BB4-B79E-46595860C5D5}"/>
              </a:ext>
            </a:extLst>
          </p:cNvPr>
          <p:cNvSpPr txBox="1"/>
          <p:nvPr/>
        </p:nvSpPr>
        <p:spPr>
          <a:xfrm>
            <a:off x="4572000" y="1866900"/>
            <a:ext cx="3048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4F4F8"/>
                </a:solidFill>
                <a:latin typeface="Segoe UI"/>
                <a:ea typeface="Segoe UI"/>
              </a:rPr>
              <a:t>Dodajte artikle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C9DBD47-4D5C-427A-87CD-3DFAC12F19AA}"/>
              </a:ext>
            </a:extLst>
          </p:cNvPr>
          <p:cNvSpPr txBox="1"/>
          <p:nvPr/>
        </p:nvSpPr>
        <p:spPr>
          <a:xfrm>
            <a:off x="4572000" y="2190750"/>
            <a:ext cx="3048000" cy="952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100">
                <a:solidFill>
                  <a:srgbClr val="A7A7B8"/>
                </a:solidFill>
                <a:latin typeface="Segoe UI"/>
                <a:ea typeface="Segoe UI"/>
              </a:rPr>
              <a:t>Unesite proizvode, primite robu i povežite tim u nekoliko klikova.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C3D62F71-FD03-4986-8B8A-558F70F835C3}"/>
              </a:ext>
            </a:extLst>
          </p:cNvPr>
          <p:cNvSpPr/>
          <p:nvPr/>
        </p:nvSpPr>
        <p:spPr>
          <a:xfrm>
            <a:off x="8001000" y="1485900"/>
            <a:ext cx="3429000" cy="1962150"/>
          </a:xfrm>
          <a:prstGeom prst="roundRect">
            <a:avLst/>
          </a:prstGeom>
          <a:solidFill>
            <a:srgbClr val="151522"/>
          </a:solidFill>
          <a:ln w="12700">
            <a:solidFill>
              <a:srgbClr val="2A2A3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3E1BDCA-8400-4DAC-ACA2-FBB33032EA39}"/>
              </a:ext>
            </a:extLst>
          </p:cNvPr>
          <p:cNvSpPr txBox="1"/>
          <p:nvPr/>
        </p:nvSpPr>
        <p:spPr>
          <a:xfrm>
            <a:off x="8191500" y="1638300"/>
            <a:ext cx="5715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49CFF"/>
                </a:solidFill>
                <a:latin typeface="Segoe UI"/>
                <a:ea typeface="Segoe UI"/>
              </a:rPr>
              <a:t>03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D52C4F95-84FA-4CB7-8E01-5D883BE36C7A}"/>
              </a:ext>
            </a:extLst>
          </p:cNvPr>
          <p:cNvSpPr txBox="1"/>
          <p:nvPr/>
        </p:nvSpPr>
        <p:spPr>
          <a:xfrm>
            <a:off x="8191500" y="1866900"/>
            <a:ext cx="3048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F4F4F8"/>
                </a:solidFill>
                <a:latin typeface="Segoe UI"/>
                <a:ea typeface="Segoe UI"/>
              </a:rPr>
              <a:t>Pratite rezultate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A46915DD-88D0-47C7-8F22-5C9B4A467242}"/>
              </a:ext>
            </a:extLst>
          </p:cNvPr>
          <p:cNvSpPr txBox="1"/>
          <p:nvPr/>
        </p:nvSpPr>
        <p:spPr>
          <a:xfrm>
            <a:off x="8191500" y="2190750"/>
            <a:ext cx="3048000" cy="952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100">
                <a:solidFill>
                  <a:srgbClr val="A7A7B8"/>
                </a:solidFill>
                <a:latin typeface="Segoe UI"/>
                <a:ea typeface="Segoe UI"/>
              </a:rPr>
              <a:t>Prodajte, skenirajte i pratite prihod i zalihe kroz jasne izveštaje.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D61D8DB9-C6C2-412B-8F62-B982B615EC4A}"/>
              </a:ext>
            </a:extLst>
          </p:cNvPr>
          <p:cNvSpPr/>
          <p:nvPr/>
        </p:nvSpPr>
        <p:spPr>
          <a:xfrm>
            <a:off x="762000" y="3810000"/>
            <a:ext cx="10668000" cy="2095500"/>
          </a:xfrm>
          <a:prstGeom prst="roundRect">
            <a:avLst/>
          </a:prstGeom>
          <a:solidFill>
            <a:srgbClr val="151522"/>
          </a:solidFill>
          <a:ln w="12700">
            <a:solidFill>
              <a:srgbClr val="2A2A3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981B5CED-0817-46A9-9A1E-A7F7A137F070}"/>
              </a:ext>
            </a:extLst>
          </p:cNvPr>
          <p:cNvSpPr txBox="1"/>
          <p:nvPr/>
        </p:nvSpPr>
        <p:spPr>
          <a:xfrm>
            <a:off x="1104900" y="4038600"/>
            <a:ext cx="38100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49CFF"/>
                </a:solidFill>
                <a:latin typeface="Segoe UI"/>
                <a:ea typeface="Segoe UI"/>
              </a:rPr>
              <a:t>SPREMNI ZA POČETAK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91B09C25-5083-43A1-915F-66CB48A483D0}"/>
              </a:ext>
            </a:extLst>
          </p:cNvPr>
          <p:cNvSpPr txBox="1"/>
          <p:nvPr/>
        </p:nvSpPr>
        <p:spPr>
          <a:xfrm>
            <a:off x="1104900" y="4305300"/>
            <a:ext cx="6096000" cy="5143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4F4F8"/>
                </a:solidFill>
                <a:latin typeface="Segoe UI"/>
                <a:ea typeface="Segoe UI"/>
              </a:rPr>
              <a:t>Otvorite svoju radnju danas.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9AF93A8B-72B0-4353-AC33-9E6381B54DEC}"/>
              </a:ext>
            </a:extLst>
          </p:cNvPr>
          <p:cNvSpPr txBox="1"/>
          <p:nvPr/>
        </p:nvSpPr>
        <p:spPr>
          <a:xfrm>
            <a:off x="1104900" y="4933950"/>
            <a:ext cx="533400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>
                <a:solidFill>
                  <a:srgbClr val="A7A7B8"/>
                </a:solidFill>
                <a:latin typeface="Segoe UI"/>
                <a:ea typeface="Segoe UI"/>
              </a:rPr>
              <a:t>Registracija je besplatna. Bez instalacije — radi na telefonu.</a:t>
            </a:r>
          </a:p>
        </p:txBody>
      </p:sp>
      <p:sp>
        <p:nvSpPr>
          <p:cNvPr id="21" name="Shape 21">
            <a:hlinkClick xmlns:r="http://schemas.openxmlformats.org/officeDocument/2006/relationships" r:id="rId2"/>
            <a:extLst>
              <a:ext uri="{FF2B5EF4-FFF2-40B4-BE49-F238E27FC236}">
                <a16:creationId xmlns:a16="http://schemas.microsoft.com/office/drawing/2014/main" id="{361F6A45-F466-460A-8306-BF00B0D3B071}"/>
              </a:ext>
            </a:extLst>
          </p:cNvPr>
          <p:cNvSpPr/>
          <p:nvPr/>
        </p:nvSpPr>
        <p:spPr>
          <a:xfrm>
            <a:off x="7962900" y="4419600"/>
            <a:ext cx="2952750" cy="590550"/>
          </a:xfrm>
          <a:prstGeom prst="roundRect">
            <a:avLst/>
          </a:prstGeom>
          <a:solidFill>
            <a:srgbClr val="6D5EF5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  <a:ea typeface="Segoe UI"/>
              </a:rPr>
              <a:t>Započnite besplatno  →</a:t>
            </a:r>
          </a:p>
        </p:txBody>
      </p:sp>
      <p:sp>
        <p:nvSpPr>
          <p:cNvPr id="22" name="TextBox 22">
            <a:hlinkClick xmlns:r="http://schemas.openxmlformats.org/officeDocument/2006/relationships" r:id="rId3"/>
            <a:extLst>
              <a:ext uri="{FF2B5EF4-FFF2-40B4-BE49-F238E27FC236}">
                <a16:creationId xmlns:a16="http://schemas.microsoft.com/office/drawing/2014/main" id="{25869F87-4B21-4D05-BCE2-7EA1AF9170CD}"/>
              </a:ext>
            </a:extLst>
          </p:cNvPr>
          <p:cNvSpPr txBox="1"/>
          <p:nvPr/>
        </p:nvSpPr>
        <p:spPr>
          <a:xfrm>
            <a:off x="7962900" y="5143500"/>
            <a:ext cx="2952750" cy="209550"/>
          </a:xfrm>
        </p:spPr>
        <p:txBody>
          <a:bodyPr wrap="square" rtlCol="0" lIns="0" tIns="0" rIns="0" bIns="0" anchor="t"/>
          <a:lstStyle/>
          <a:p>
            <a:pPr algn="ctr"/>
            <a:r>
              <a:rPr sz="1100">
                <a:solidFill>
                  <a:srgbClr val="B49CFF"/>
                </a:solidFill>
                <a:latin typeface="Segoe UI"/>
                <a:ea typeface="Segoe UI"/>
              </a:rPr>
              <a:t>crm-inventory-chi.vercel.app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E49378A3-7B98-4936-BDC8-56DA098E29C2}"/>
              </a:ext>
            </a:extLst>
          </p:cNvPr>
          <p:cNvSpPr txBox="1"/>
          <p:nvPr/>
        </p:nvSpPr>
        <p:spPr>
          <a:xfrm>
            <a:off x="762000" y="6324600"/>
            <a:ext cx="76200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900">
                <a:solidFill>
                  <a:srgbClr val="6F6F85"/>
                </a:solidFill>
                <a:latin typeface="Segoe UI"/>
                <a:ea typeface="Segoe UI"/>
              </a:rPr>
              <a:t>Logixia · Upravljanje zalihama u realnom vremenu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75C73D9D-F5B1-4A8C-A31B-C28324A7D060}"/>
              </a:ext>
            </a:extLst>
          </p:cNvPr>
          <p:cNvSpPr txBox="1"/>
          <p:nvPr/>
        </p:nvSpPr>
        <p:spPr>
          <a:xfrm>
            <a:off x="10287000" y="6324600"/>
            <a:ext cx="114300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900">
                <a:solidFill>
                  <a:srgbClr val="6F6F85"/>
                </a:solidFill>
                <a:latin typeface="Segoe UI"/>
                <a:ea typeface="Segoe UI"/>
              </a:rPr>
              <a:t>03 / 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