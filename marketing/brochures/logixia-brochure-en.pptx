
<file path=[Content_Types].xml><?xml version="1.0" encoding="utf-8"?>
<Types xmlns="http://schemas.openxmlformats.org/package/2006/content-types"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crm-inventory-chi.vercel.app" TargetMode="External"/><Relationship Id="rId4" Type="http://schemas.openxmlformats.org/officeDocument/2006/relationships/hyperlink" Target="https://crm-inventory-chi.vercel.app" TargetMode="External"/><Relationship Id="rId5" Type="http://schemas.openxmlformats.org/officeDocument/2006/relationships/hyperlink" Target="https://crm-inventory-chi.vercel.app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rm-inventory-chi.vercel.app" TargetMode="External"/><Relationship Id="rId3" Type="http://schemas.openxmlformats.org/officeDocument/2006/relationships/hyperlink" Target="https://crm-inventory-chi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9D77CF8C-7CE6-4B8D-997C-D628EF6B0E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571500"/>
            <a:ext cx="552450" cy="55245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6B9724C6-5C00-4257-B5C3-36C4CEA32AD2}"/>
              </a:ext>
            </a:extLst>
          </p:cNvPr>
          <p:cNvSpPr txBox="1"/>
          <p:nvPr/>
        </p:nvSpPr>
        <p:spPr>
          <a:xfrm>
            <a:off x="1447800" y="628650"/>
            <a:ext cx="3238500" cy="428625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4F4F8"/>
                </a:solidFill>
                <a:latin typeface="Segoe UI"/>
                <a:ea typeface="Segoe UI"/>
              </a:rPr>
              <a:t>Logixia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CFB132F-28DD-4542-B545-60F508A08AD5}"/>
              </a:ext>
            </a:extLst>
          </p:cNvPr>
          <p:cNvSpPr txBox="1"/>
          <p:nvPr/>
        </p:nvSpPr>
        <p:spPr>
          <a:xfrm>
            <a:off x="1447800" y="1028700"/>
            <a:ext cx="495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STOCK MANAGEMENT · IN REAL TIME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8794D73-9E5E-4321-B739-10CF0D671B6D}"/>
              </a:ext>
            </a:extLst>
          </p:cNvPr>
          <p:cNvSpPr txBox="1"/>
          <p:nvPr/>
        </p:nvSpPr>
        <p:spPr>
          <a:xfrm>
            <a:off x="762000" y="1714500"/>
            <a:ext cx="53340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4F4F8"/>
                </a:solidFill>
                <a:latin typeface="Segoe UI"/>
                <a:ea typeface="Segoe UI"/>
              </a:rPr>
              <a:t>All your store's</a:t>
            </a:r>
            <a:br/>
            <a:r>
              <a:rPr sz="3800" b="1">
                <a:solidFill>
                  <a:srgbClr val="F4F4F8"/>
                </a:solidFill>
                <a:latin typeface="Segoe UI"/>
                <a:ea typeface="Segoe UI"/>
              </a:rPr>
              <a:t>inventory</a:t>
            </a:r>
            <a:br/>
            <a:r>
              <a:rPr sz="3800" b="1">
                <a:solidFill>
                  <a:srgbClr val="F4F4F8"/>
                </a:solidFill>
                <a:latin typeface="Segoe UI"/>
                <a:ea typeface="Segoe UI"/>
              </a:rPr>
              <a:t>in one place.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1E82963-7BAC-45B6-B0B2-31E5E788B482}"/>
              </a:ext>
            </a:extLst>
          </p:cNvPr>
          <p:cNvSpPr txBox="1"/>
          <p:nvPr/>
        </p:nvSpPr>
        <p:spPr>
          <a:xfrm>
            <a:off x="762000" y="4229100"/>
            <a:ext cx="509587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A7A7B8"/>
                </a:solidFill>
                <a:latin typeface="Segoe UI"/>
                <a:ea typeface="Segoe UI"/>
              </a:rPr>
              <a:t>Track stock levels, receive goods, analyse movements and export reports — for you and your team.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B7C049F-4924-4363-B206-4B829F327BA7}"/>
              </a:ext>
            </a:extLst>
          </p:cNvPr>
          <p:cNvSpPr/>
          <p:nvPr/>
        </p:nvSpPr>
        <p:spPr>
          <a:xfrm>
            <a:off x="762000" y="5295900"/>
            <a:ext cx="1524000" cy="3619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E2E4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100">
                <a:solidFill>
                  <a:srgbClr val="E9E9F2"/>
                </a:solidFill>
                <a:latin typeface="Segoe UI"/>
                <a:ea typeface="Segoe UI"/>
              </a:rPr>
              <a:t>Free to start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501819B-33B2-4494-B3C9-DA475E73947E}"/>
              </a:ext>
            </a:extLst>
          </p:cNvPr>
          <p:cNvSpPr/>
          <p:nvPr/>
        </p:nvSpPr>
        <p:spPr>
          <a:xfrm>
            <a:off x="2400300" y="5295900"/>
            <a:ext cx="1600200" cy="3619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E2E4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100">
                <a:solidFill>
                  <a:srgbClr val="E9E9F2"/>
                </a:solidFill>
                <a:latin typeface="Segoe UI"/>
                <a:ea typeface="Segoe UI"/>
              </a:rPr>
              <a:t>No installation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FC1E606-6268-41C9-85B2-798821DE1132}"/>
              </a:ext>
            </a:extLst>
          </p:cNvPr>
          <p:cNvSpPr/>
          <p:nvPr/>
        </p:nvSpPr>
        <p:spPr>
          <a:xfrm>
            <a:off x="4114800" y="5295900"/>
            <a:ext cx="2000250" cy="3619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E2E4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100">
                <a:solidFill>
                  <a:srgbClr val="E9E9F2"/>
                </a:solidFill>
                <a:latin typeface="Segoe UI"/>
                <a:ea typeface="Segoe UI"/>
              </a:rPr>
              <a:t>Works on your phone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28FC12F-4F45-4354-9789-EA73C6039156}"/>
              </a:ext>
            </a:extLst>
          </p:cNvPr>
          <p:cNvSpPr/>
          <p:nvPr/>
        </p:nvSpPr>
        <p:spPr>
          <a:xfrm>
            <a:off x="6286500" y="1143000"/>
            <a:ext cx="5143500" cy="476250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FDC2497-6551-4FF6-B493-0BD0C83E3D43}"/>
              </a:ext>
            </a:extLst>
          </p:cNvPr>
          <p:cNvSpPr txBox="1"/>
          <p:nvPr/>
        </p:nvSpPr>
        <p:spPr>
          <a:xfrm>
            <a:off x="6515100" y="135255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F4F4F8"/>
                </a:solidFill>
                <a:latin typeface="Segoe UI"/>
                <a:ea typeface="Segoe UI"/>
              </a:rPr>
              <a:t>Overview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0BEA003-47D3-4B20-850B-7179223A5B10}"/>
              </a:ext>
            </a:extLst>
          </p:cNvPr>
          <p:cNvSpPr/>
          <p:nvPr/>
        </p:nvSpPr>
        <p:spPr>
          <a:xfrm>
            <a:off x="6515100" y="1676400"/>
            <a:ext cx="1428750" cy="838200"/>
          </a:xfrm>
          <a:prstGeom prst="roundRect">
            <a:avLst/>
          </a:prstGeom>
          <a:solidFill>
            <a:srgbClr val="18182A"/>
          </a:solidFill>
          <a:ln w="12700">
            <a:solidFill>
              <a:srgbClr val="2626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1960BBE-1DD9-45B2-A3BF-F5A7247A6D12}"/>
              </a:ext>
            </a:extLst>
          </p:cNvPr>
          <p:cNvSpPr/>
          <p:nvPr/>
        </p:nvSpPr>
        <p:spPr>
          <a:xfrm>
            <a:off x="8058150" y="1676400"/>
            <a:ext cx="1428750" cy="838200"/>
          </a:xfrm>
          <a:prstGeom prst="roundRect">
            <a:avLst/>
          </a:prstGeom>
          <a:solidFill>
            <a:srgbClr val="18182A"/>
          </a:solidFill>
          <a:ln w="12700">
            <a:solidFill>
              <a:srgbClr val="2626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3AB1CD5-F6B2-493E-8178-DDA1AD8DA4E5}"/>
              </a:ext>
            </a:extLst>
          </p:cNvPr>
          <p:cNvSpPr/>
          <p:nvPr/>
        </p:nvSpPr>
        <p:spPr>
          <a:xfrm>
            <a:off x="9601200" y="1676400"/>
            <a:ext cx="1428750" cy="838200"/>
          </a:xfrm>
          <a:prstGeom prst="roundRect">
            <a:avLst/>
          </a:prstGeom>
          <a:solidFill>
            <a:srgbClr val="18182A"/>
          </a:solidFill>
          <a:ln w="12700">
            <a:solidFill>
              <a:srgbClr val="2626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E75D8F7-4E75-4666-AA74-B5D29EB9D40B}"/>
              </a:ext>
            </a:extLst>
          </p:cNvPr>
          <p:cNvSpPr txBox="1"/>
          <p:nvPr/>
        </p:nvSpPr>
        <p:spPr>
          <a:xfrm>
            <a:off x="6648450" y="1809750"/>
            <a:ext cx="12001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4F8"/>
                </a:solidFill>
                <a:latin typeface="Segoe UI"/>
                <a:ea typeface="Segoe UI"/>
              </a:rPr>
              <a:t>128,450</a:t>
            </a:r>
            <a:r>
              <a:rPr sz="900" b="1">
                <a:solidFill>
                  <a:srgbClr val="A7A7B8"/>
                </a:solidFill>
                <a:latin typeface="Segoe UI"/>
                <a:ea typeface="Segoe UI"/>
              </a:rPr>
              <a:t> RSD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AB34897-ECFB-4BA4-8D52-7B34AF4A06E1}"/>
              </a:ext>
            </a:extLst>
          </p:cNvPr>
          <p:cNvSpPr txBox="1"/>
          <p:nvPr/>
        </p:nvSpPr>
        <p:spPr>
          <a:xfrm>
            <a:off x="6648450" y="2152650"/>
            <a:ext cx="12001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A7A7B8"/>
                </a:solidFill>
                <a:latin typeface="Segoe UI"/>
                <a:ea typeface="Segoe UI"/>
              </a:rPr>
              <a:t>Revenue +12.4%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2072864-0E17-4E03-9B0E-B857DDB51560}"/>
              </a:ext>
            </a:extLst>
          </p:cNvPr>
          <p:cNvSpPr txBox="1"/>
          <p:nvPr/>
        </p:nvSpPr>
        <p:spPr>
          <a:xfrm>
            <a:off x="8191500" y="1809750"/>
            <a:ext cx="114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4F8"/>
                </a:solidFill>
                <a:latin typeface="Segoe UI"/>
                <a:ea typeface="Segoe UI"/>
              </a:rPr>
              <a:t>34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5AD840A-29D0-4488-A50E-85AF9F1006D4}"/>
              </a:ext>
            </a:extLst>
          </p:cNvPr>
          <p:cNvSpPr txBox="1"/>
          <p:nvPr/>
        </p:nvSpPr>
        <p:spPr>
          <a:xfrm>
            <a:off x="8191500" y="21526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A7A7B8"/>
                </a:solidFill>
                <a:latin typeface="Segoe UI"/>
                <a:ea typeface="Segoe UI"/>
              </a:rPr>
              <a:t>Sales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A1E16EA-2248-4DC1-B246-4295B0631346}"/>
              </a:ext>
            </a:extLst>
          </p:cNvPr>
          <p:cNvSpPr txBox="1"/>
          <p:nvPr/>
        </p:nvSpPr>
        <p:spPr>
          <a:xfrm>
            <a:off x="9734550" y="1809750"/>
            <a:ext cx="114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4F8"/>
                </a:solidFill>
                <a:latin typeface="Segoe UI"/>
                <a:ea typeface="Segoe UI"/>
              </a:rPr>
              <a:t>128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0F45AF2-AE64-497D-9EFE-C5FF383C59A0}"/>
              </a:ext>
            </a:extLst>
          </p:cNvPr>
          <p:cNvSpPr txBox="1"/>
          <p:nvPr/>
        </p:nvSpPr>
        <p:spPr>
          <a:xfrm>
            <a:off x="9734550" y="21526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A7A7B8"/>
                </a:solidFill>
                <a:latin typeface="Segoe UI"/>
                <a:ea typeface="Segoe UI"/>
              </a:rPr>
              <a:t>Products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182342B6-27A0-4EB9-98E7-D4B380458A9B}"/>
              </a:ext>
            </a:extLst>
          </p:cNvPr>
          <p:cNvSpPr/>
          <p:nvPr/>
        </p:nvSpPr>
        <p:spPr>
          <a:xfrm>
            <a:off x="6515100" y="4343400"/>
            <a:ext cx="4572000" cy="9525"/>
          </a:xfrm>
          <a:prstGeom prst="rect">
            <a:avLst/>
          </a:prstGeom>
          <a:solidFill>
            <a:srgbClr val="2A2A3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05E4780-5260-43A8-A1D4-11B75A255BA9}"/>
              </a:ext>
            </a:extLst>
          </p:cNvPr>
          <p:cNvSpPr/>
          <p:nvPr/>
        </p:nvSpPr>
        <p:spPr>
          <a:xfrm>
            <a:off x="6667500" y="3762375"/>
            <a:ext cx="361950" cy="58102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56546DD-BDAF-408F-B306-D7A2913EEDE0}"/>
              </a:ext>
            </a:extLst>
          </p:cNvPr>
          <p:cNvSpPr/>
          <p:nvPr/>
        </p:nvSpPr>
        <p:spPr>
          <a:xfrm>
            <a:off x="7315200" y="3552825"/>
            <a:ext cx="361950" cy="79057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31C12FF-B151-495C-8742-52D4026B235C}"/>
              </a:ext>
            </a:extLst>
          </p:cNvPr>
          <p:cNvSpPr/>
          <p:nvPr/>
        </p:nvSpPr>
        <p:spPr>
          <a:xfrm>
            <a:off x="7962900" y="3857625"/>
            <a:ext cx="361950" cy="48577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CE27D734-73F6-47EA-87C9-7D0889C540A5}"/>
              </a:ext>
            </a:extLst>
          </p:cNvPr>
          <p:cNvSpPr/>
          <p:nvPr/>
        </p:nvSpPr>
        <p:spPr>
          <a:xfrm>
            <a:off x="8610600" y="3381375"/>
            <a:ext cx="361950" cy="96202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3757617-16FB-4380-BA00-ED5D3CC5CDE4}"/>
              </a:ext>
            </a:extLst>
          </p:cNvPr>
          <p:cNvSpPr/>
          <p:nvPr/>
        </p:nvSpPr>
        <p:spPr>
          <a:xfrm>
            <a:off x="9258300" y="3657600"/>
            <a:ext cx="361950" cy="685800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44AA9F11-E9D2-4CA6-9D9F-A2B01E9C4D30}"/>
              </a:ext>
            </a:extLst>
          </p:cNvPr>
          <p:cNvSpPr/>
          <p:nvPr/>
        </p:nvSpPr>
        <p:spPr>
          <a:xfrm>
            <a:off x="9906000" y="3200400"/>
            <a:ext cx="361950" cy="1143000"/>
          </a:xfrm>
          <a:prstGeom prst="rect">
            <a:avLst/>
          </a:prstGeom>
          <a:solidFill>
            <a:srgbClr val="B49C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5D6D6A78-80C5-4F5A-AC24-51E04C16CB76}"/>
              </a:ext>
            </a:extLst>
          </p:cNvPr>
          <p:cNvSpPr/>
          <p:nvPr/>
        </p:nvSpPr>
        <p:spPr>
          <a:xfrm>
            <a:off x="10553700" y="3476625"/>
            <a:ext cx="361950" cy="86677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83FB341-209C-4BCC-AF14-108E59A90D89}"/>
              </a:ext>
            </a:extLst>
          </p:cNvPr>
          <p:cNvSpPr txBox="1"/>
          <p:nvPr/>
        </p:nvSpPr>
        <p:spPr>
          <a:xfrm>
            <a:off x="6515100" y="4476750"/>
            <a:ext cx="2095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Last 7 days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BD612DA2-9566-4328-9A18-393EAD99EA65}"/>
              </a:ext>
            </a:extLst>
          </p:cNvPr>
          <p:cNvSpPr/>
          <p:nvPr/>
        </p:nvSpPr>
        <p:spPr>
          <a:xfrm>
            <a:off x="8305800" y="4819650"/>
            <a:ext cx="2857500" cy="590550"/>
          </a:xfrm>
          <a:prstGeom prst="roundRect">
            <a:avLst/>
          </a:prstGeom>
          <a:solidFill>
            <a:srgbClr val="1D1D30"/>
          </a:solidFill>
          <a:ln w="12700">
            <a:solidFill>
              <a:srgbClr val="3434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FB9E662-B096-4631-961C-877DF376D036}"/>
              </a:ext>
            </a:extLst>
          </p:cNvPr>
          <p:cNvSpPr txBox="1"/>
          <p:nvPr/>
        </p:nvSpPr>
        <p:spPr>
          <a:xfrm>
            <a:off x="8477250" y="4914900"/>
            <a:ext cx="2514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F4F4F8"/>
                </a:solidFill>
                <a:latin typeface="Segoe UI"/>
                <a:ea typeface="Segoe UI"/>
              </a:rPr>
              <a:t>New sale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468EB3A-12AB-476F-BC9F-C9F49E225FD4}"/>
              </a:ext>
            </a:extLst>
          </p:cNvPr>
          <p:cNvSpPr txBox="1"/>
          <p:nvPr/>
        </p:nvSpPr>
        <p:spPr>
          <a:xfrm>
            <a:off x="8477250" y="5114925"/>
            <a:ext cx="25146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B49CFF"/>
                </a:solidFill>
                <a:latin typeface="Segoe UI"/>
                <a:ea typeface="Segoe UI"/>
              </a:rPr>
              <a:t>Store · +1,980 RSD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31D372D-6310-40B5-ADA5-F7D54CA3C67C}"/>
              </a:ext>
            </a:extLst>
          </p:cNvPr>
          <p:cNvSpPr txBox="1"/>
          <p:nvPr/>
        </p:nvSpPr>
        <p:spPr>
          <a:xfrm>
            <a:off x="6515100" y="5562600"/>
            <a:ext cx="2286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Interface preview</a:t>
            </a:r>
          </a:p>
        </p:txBody>
      </p:sp>
      <p:sp>
        <p:nvSpPr>
          <p:cNvPr id="35" name="Shape 35">
            <a:hlinkClick xmlns:r="http://schemas.openxmlformats.org/officeDocument/2006/relationships" r:id="rId3"/>
            <a:extLst>
              <a:ext uri="{FF2B5EF4-FFF2-40B4-BE49-F238E27FC236}">
                <a16:creationId xmlns:a16="http://schemas.microsoft.com/office/drawing/2014/main" id="{FD805598-6988-428C-9ECC-C19523DA08FE}"/>
              </a:ext>
            </a:extLst>
          </p:cNvPr>
          <p:cNvSpPr/>
          <p:nvPr/>
        </p:nvSpPr>
        <p:spPr>
          <a:xfrm>
            <a:off x="762000" y="6134100"/>
            <a:ext cx="10668000" cy="533400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hlinkClick xmlns:r="http://schemas.openxmlformats.org/officeDocument/2006/relationships" r:id="rId4"/>
            <a:extLst>
              <a:ext uri="{FF2B5EF4-FFF2-40B4-BE49-F238E27FC236}">
                <a16:creationId xmlns:a16="http://schemas.microsoft.com/office/drawing/2014/main" id="{6BF935FF-4CA8-4E91-971E-006E761CD5C1}"/>
              </a:ext>
            </a:extLst>
          </p:cNvPr>
          <p:cNvSpPr txBox="1"/>
          <p:nvPr/>
        </p:nvSpPr>
        <p:spPr>
          <a:xfrm>
            <a:off x="1028700" y="6267450"/>
            <a:ext cx="495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Start for free  →</a:t>
            </a:r>
          </a:p>
        </p:txBody>
      </p:sp>
      <p:sp>
        <p:nvSpPr>
          <p:cNvPr id="37" name="TextBox 37">
            <a:hlinkClick xmlns:r="http://schemas.openxmlformats.org/officeDocument/2006/relationships" r:id="rId5"/>
            <a:extLst>
              <a:ext uri="{FF2B5EF4-FFF2-40B4-BE49-F238E27FC236}">
                <a16:creationId xmlns:a16="http://schemas.microsoft.com/office/drawing/2014/main" id="{6AA2F0A2-9B45-4026-A2D6-AC749AFBC152}"/>
              </a:ext>
            </a:extLst>
          </p:cNvPr>
          <p:cNvSpPr txBox="1"/>
          <p:nvPr/>
        </p:nvSpPr>
        <p:spPr>
          <a:xfrm>
            <a:off x="5905500" y="6296025"/>
            <a:ext cx="52197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EDE9FE"/>
                </a:solidFill>
                <a:latin typeface="Segoe UI"/>
                <a:ea typeface="Segoe UI"/>
              </a:rPr>
              <a:t>crm-inventory-chi.vercel.app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98FC9B3-3CAF-41B1-BE55-B10F5A5B30CB}"/>
              </a:ext>
            </a:extLst>
          </p:cNvPr>
          <p:cNvSpPr txBox="1"/>
          <p:nvPr/>
        </p:nvSpPr>
        <p:spPr>
          <a:xfrm>
            <a:off x="762000" y="419100"/>
            <a:ext cx="8763000" cy="5029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4F4F8"/>
                </a:solidFill>
                <a:latin typeface="Segoe UI"/>
                <a:ea typeface="Segoe UI"/>
              </a:rPr>
              <a:t>Everything your store needs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A74CED-C861-4AFA-84C9-16F689585396}"/>
              </a:ext>
            </a:extLst>
          </p:cNvPr>
          <p:cNvSpPr txBox="1"/>
          <p:nvPr/>
        </p:nvSpPr>
        <p:spPr>
          <a:xfrm>
            <a:off x="762000" y="971550"/>
            <a:ext cx="8763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A7A7B8"/>
                </a:solidFill>
                <a:latin typeface="Segoe UI"/>
                <a:ea typeface="Segoe UI"/>
              </a:rPr>
              <a:t>From the first product to clear reports.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F7ED056-38A0-4EAD-B2C5-B35A30E6F23D}"/>
              </a:ext>
            </a:extLst>
          </p:cNvPr>
          <p:cNvSpPr/>
          <p:nvPr/>
        </p:nvSpPr>
        <p:spPr>
          <a:xfrm>
            <a:off x="762000" y="14859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F8EE66E-3812-431F-B443-E5BCEB195BAE}"/>
              </a:ext>
            </a:extLst>
          </p:cNvPr>
          <p:cNvSpPr txBox="1"/>
          <p:nvPr/>
        </p:nvSpPr>
        <p:spPr>
          <a:xfrm>
            <a:off x="952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A9E2477-076F-4348-81BA-2523B7D85B23}"/>
              </a:ext>
            </a:extLst>
          </p:cNvPr>
          <p:cNvSpPr txBox="1"/>
          <p:nvPr/>
        </p:nvSpPr>
        <p:spPr>
          <a:xfrm>
            <a:off x="952500" y="18478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Products and stock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E7A4DA3-6C38-4FD2-8D17-FE2B177E079F}"/>
              </a:ext>
            </a:extLst>
          </p:cNvPr>
          <p:cNvSpPr txBox="1"/>
          <p:nvPr/>
        </p:nvSpPr>
        <p:spPr>
          <a:xfrm>
            <a:off x="952500" y="21336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Categories, images, SKUs, prices, variants and custom fields — all in one place.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E645B4A-AEEE-4579-97AC-BAD9A776AD8F}"/>
              </a:ext>
            </a:extLst>
          </p:cNvPr>
          <p:cNvSpPr/>
          <p:nvPr/>
        </p:nvSpPr>
        <p:spPr>
          <a:xfrm>
            <a:off x="4381500" y="14859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107D307-5F36-4BED-B878-F55FC835D26A}"/>
              </a:ext>
            </a:extLst>
          </p:cNvPr>
          <p:cNvSpPr txBox="1"/>
          <p:nvPr/>
        </p:nvSpPr>
        <p:spPr>
          <a:xfrm>
            <a:off x="45720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FD6A597-5BE2-463B-AAB7-761E3DC5A7AE}"/>
              </a:ext>
            </a:extLst>
          </p:cNvPr>
          <p:cNvSpPr txBox="1"/>
          <p:nvPr/>
        </p:nvSpPr>
        <p:spPr>
          <a:xfrm>
            <a:off x="4572000" y="18478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Receiving goods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250BD95-2D1B-4E2A-87E6-E6DE349002A9}"/>
              </a:ext>
            </a:extLst>
          </p:cNvPr>
          <p:cNvSpPr txBox="1"/>
          <p:nvPr/>
        </p:nvSpPr>
        <p:spPr>
          <a:xfrm>
            <a:off x="4572000" y="21336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Search or scan barcodes; stock levels update immediately.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8FB8542-12E1-4129-932D-5D2553970EE3}"/>
              </a:ext>
            </a:extLst>
          </p:cNvPr>
          <p:cNvSpPr/>
          <p:nvPr/>
        </p:nvSpPr>
        <p:spPr>
          <a:xfrm>
            <a:off x="8001000" y="14859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8361AAB-6E06-42E9-BF1D-66112E2CF01A}"/>
              </a:ext>
            </a:extLst>
          </p:cNvPr>
          <p:cNvSpPr txBox="1"/>
          <p:nvPr/>
        </p:nvSpPr>
        <p:spPr>
          <a:xfrm>
            <a:off x="8191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5363E4B-7928-45C2-A66A-4A5519D3A5BA}"/>
              </a:ext>
            </a:extLst>
          </p:cNvPr>
          <p:cNvSpPr txBox="1"/>
          <p:nvPr/>
        </p:nvSpPr>
        <p:spPr>
          <a:xfrm>
            <a:off x="8191500" y="18478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Sales and reversals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94CAB05-3553-407C-8FF5-648932F2159D}"/>
              </a:ext>
            </a:extLst>
          </p:cNvPr>
          <p:cNvSpPr txBox="1"/>
          <p:nvPr/>
        </p:nvSpPr>
        <p:spPr>
          <a:xfrm>
            <a:off x="8191500" y="21336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Sales by customer and channel, automatic stock and easy reversal.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746B2AF-D8C4-47B0-9E6B-0D3E062E269F}"/>
              </a:ext>
            </a:extLst>
          </p:cNvPr>
          <p:cNvSpPr/>
          <p:nvPr/>
        </p:nvSpPr>
        <p:spPr>
          <a:xfrm>
            <a:off x="762000" y="31242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F5248C6-B958-490A-A0D3-80B62ECE35C4}"/>
              </a:ext>
            </a:extLst>
          </p:cNvPr>
          <p:cNvSpPr txBox="1"/>
          <p:nvPr/>
        </p:nvSpPr>
        <p:spPr>
          <a:xfrm>
            <a:off x="952500" y="32766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9FE1481-1466-4331-B48C-EB9AFAFF3764}"/>
              </a:ext>
            </a:extLst>
          </p:cNvPr>
          <p:cNvSpPr txBox="1"/>
          <p:nvPr/>
        </p:nvSpPr>
        <p:spPr>
          <a:xfrm>
            <a:off x="952500" y="34861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Orders and customers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F061013-F2EA-4164-8170-444BA290B2AF}"/>
              </a:ext>
            </a:extLst>
          </p:cNvPr>
          <p:cNvSpPr txBox="1"/>
          <p:nvPr/>
        </p:nvSpPr>
        <p:spPr>
          <a:xfrm>
            <a:off x="952500" y="37719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Order statuses, partial fulfilment and customer conversations.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69DD332F-D3C5-41F3-BF38-A68B2987C5CE}"/>
              </a:ext>
            </a:extLst>
          </p:cNvPr>
          <p:cNvSpPr/>
          <p:nvPr/>
        </p:nvSpPr>
        <p:spPr>
          <a:xfrm>
            <a:off x="4381500" y="31242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9F0AF54-F777-420E-B7B4-86D29AC35E27}"/>
              </a:ext>
            </a:extLst>
          </p:cNvPr>
          <p:cNvSpPr txBox="1"/>
          <p:nvPr/>
        </p:nvSpPr>
        <p:spPr>
          <a:xfrm>
            <a:off x="4572000" y="32766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6936125-B1D3-4E37-8E12-44C4B41E5157}"/>
              </a:ext>
            </a:extLst>
          </p:cNvPr>
          <p:cNvSpPr txBox="1"/>
          <p:nvPr/>
        </p:nvSpPr>
        <p:spPr>
          <a:xfrm>
            <a:off x="4572000" y="34861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Public catalog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2A2BD46-516A-4240-B145-D0354638F463}"/>
              </a:ext>
            </a:extLst>
          </p:cNvPr>
          <p:cNvSpPr txBox="1"/>
          <p:nvPr/>
        </p:nvSpPr>
        <p:spPr>
          <a:xfrm>
            <a:off x="4572000" y="37719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Share the link on Instagram; customers pick variants and order or ask.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AF810C54-3E7C-4848-9BE0-BDCA1CA33746}"/>
              </a:ext>
            </a:extLst>
          </p:cNvPr>
          <p:cNvSpPr/>
          <p:nvPr/>
        </p:nvSpPr>
        <p:spPr>
          <a:xfrm>
            <a:off x="8001000" y="31242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7CFAD07-8567-454E-B634-A5F2E5CD2D1E}"/>
              </a:ext>
            </a:extLst>
          </p:cNvPr>
          <p:cNvSpPr txBox="1"/>
          <p:nvPr/>
        </p:nvSpPr>
        <p:spPr>
          <a:xfrm>
            <a:off x="8191500" y="32766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5751789-7655-4014-9D21-6EE8EEE02044}"/>
              </a:ext>
            </a:extLst>
          </p:cNvPr>
          <p:cNvSpPr txBox="1"/>
          <p:nvPr/>
        </p:nvSpPr>
        <p:spPr>
          <a:xfrm>
            <a:off x="8191500" y="34861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Analytics and reports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921E72F-6A41-437C-B3AE-BABCD9723E91}"/>
              </a:ext>
            </a:extLst>
          </p:cNvPr>
          <p:cNvSpPr txBox="1"/>
          <p:nvPr/>
        </p:nvSpPr>
        <p:spPr>
          <a:xfrm>
            <a:off x="8191500" y="37719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Stock, sales, revenue and top products; import, export and PDF reports.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26985266-B312-486D-AF8C-84CCE3139794}"/>
              </a:ext>
            </a:extLst>
          </p:cNvPr>
          <p:cNvSpPr/>
          <p:nvPr/>
        </p:nvSpPr>
        <p:spPr>
          <a:xfrm>
            <a:off x="762000" y="4857750"/>
            <a:ext cx="10668000" cy="81915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3D04BAA-EF63-4110-A282-F4F817F66A2D}"/>
              </a:ext>
            </a:extLst>
          </p:cNvPr>
          <p:cNvSpPr txBox="1"/>
          <p:nvPr/>
        </p:nvSpPr>
        <p:spPr>
          <a:xfrm>
            <a:off x="990600" y="4972050"/>
            <a:ext cx="285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 b="1">
                <a:solidFill>
                  <a:srgbClr val="B49CFF"/>
                </a:solidFill>
                <a:latin typeface="Segoe UI"/>
                <a:ea typeface="Segoe UI"/>
              </a:rPr>
              <a:t>ALSO INCLUDED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45BE3FD-13DF-4BB5-9ECE-9B98ABECC69D}"/>
              </a:ext>
            </a:extLst>
          </p:cNvPr>
          <p:cNvSpPr txBox="1"/>
          <p:nvPr/>
        </p:nvSpPr>
        <p:spPr>
          <a:xfrm>
            <a:off x="990600" y="5181600"/>
            <a:ext cx="102108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Barcode scanning · Audit log · Team and permissions · 6 languages · Dark and light theme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534FE27-7F63-4C18-BAE1-9A7DC5A3EC2E}"/>
              </a:ext>
            </a:extLst>
          </p:cNvPr>
          <p:cNvSpPr txBox="1"/>
          <p:nvPr/>
        </p:nvSpPr>
        <p:spPr>
          <a:xfrm>
            <a:off x="762000" y="6438900"/>
            <a:ext cx="1066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Logixia · crm-inventory-chi.vercel.app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A4A8401-71AF-4D5D-AC1A-0C7805CA7EE9}"/>
              </a:ext>
            </a:extLst>
          </p:cNvPr>
          <p:cNvSpPr txBox="1"/>
          <p:nvPr/>
        </p:nvSpPr>
        <p:spPr>
          <a:xfrm>
            <a:off x="762000" y="419100"/>
            <a:ext cx="8763000" cy="5029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4F4F8"/>
                </a:solidFill>
                <a:latin typeface="Segoe UI"/>
                <a:ea typeface="Segoe UI"/>
              </a:rPr>
              <a:t>How it works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6D2371B-610F-4B88-8E42-E0404AF7FD9B}"/>
              </a:ext>
            </a:extLst>
          </p:cNvPr>
          <p:cNvSpPr txBox="1"/>
          <p:nvPr/>
        </p:nvSpPr>
        <p:spPr>
          <a:xfrm>
            <a:off x="762000" y="971550"/>
            <a:ext cx="8763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A7A7B8"/>
                </a:solidFill>
                <a:latin typeface="Segoe UI"/>
                <a:ea typeface="Segoe UI"/>
              </a:rPr>
              <a:t>From first setup to a clear view of your business — in three steps.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A79E1D8-647F-435C-BA9D-10EFA18D58B1}"/>
              </a:ext>
            </a:extLst>
          </p:cNvPr>
          <p:cNvSpPr/>
          <p:nvPr/>
        </p:nvSpPr>
        <p:spPr>
          <a:xfrm>
            <a:off x="762000" y="1485900"/>
            <a:ext cx="3429000" cy="19621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101FFC2-07C1-4F10-BC9A-6EE97DE0F4F4}"/>
              </a:ext>
            </a:extLst>
          </p:cNvPr>
          <p:cNvSpPr txBox="1"/>
          <p:nvPr/>
        </p:nvSpPr>
        <p:spPr>
          <a:xfrm>
            <a:off x="952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731D8B7-6ABD-4994-9284-BF1567E3BC3F}"/>
              </a:ext>
            </a:extLst>
          </p:cNvPr>
          <p:cNvSpPr txBox="1"/>
          <p:nvPr/>
        </p:nvSpPr>
        <p:spPr>
          <a:xfrm>
            <a:off x="952500" y="18669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Create your store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2B9033-59C5-4159-9F9A-F8C7EBE19486}"/>
              </a:ext>
            </a:extLst>
          </p:cNvPr>
          <p:cNvSpPr txBox="1"/>
          <p:nvPr/>
        </p:nvSpPr>
        <p:spPr>
          <a:xfrm>
            <a:off x="952500" y="2190750"/>
            <a:ext cx="3048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Sign up with Google and get your Shop ID right away.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AB25735-1C62-4737-893A-9F4A8469ADE8}"/>
              </a:ext>
            </a:extLst>
          </p:cNvPr>
          <p:cNvSpPr/>
          <p:nvPr/>
        </p:nvSpPr>
        <p:spPr>
          <a:xfrm>
            <a:off x="4381500" y="1485900"/>
            <a:ext cx="3429000" cy="19621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CE5E750-BADD-4767-A176-B3C865E807D9}"/>
              </a:ext>
            </a:extLst>
          </p:cNvPr>
          <p:cNvSpPr txBox="1"/>
          <p:nvPr/>
        </p:nvSpPr>
        <p:spPr>
          <a:xfrm>
            <a:off x="45720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0F2AFA5-E2DB-44A0-9D4A-1C2E5F1B7395}"/>
              </a:ext>
            </a:extLst>
          </p:cNvPr>
          <p:cNvSpPr txBox="1"/>
          <p:nvPr/>
        </p:nvSpPr>
        <p:spPr>
          <a:xfrm>
            <a:off x="4572000" y="18669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Add your products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D2FF46E-03D5-4C40-998E-ACBF39422AB0}"/>
              </a:ext>
            </a:extLst>
          </p:cNvPr>
          <p:cNvSpPr txBox="1"/>
          <p:nvPr/>
        </p:nvSpPr>
        <p:spPr>
          <a:xfrm>
            <a:off x="4572000" y="2190750"/>
            <a:ext cx="3048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Enter products, receive stock and connect your team in a few clicks.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C850A58-DAB1-467B-8B7B-2ECC7AA97820}"/>
              </a:ext>
            </a:extLst>
          </p:cNvPr>
          <p:cNvSpPr/>
          <p:nvPr/>
        </p:nvSpPr>
        <p:spPr>
          <a:xfrm>
            <a:off x="8001000" y="1485900"/>
            <a:ext cx="3429000" cy="19621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FFC8659-273D-46C7-B42A-4666D1AD3980}"/>
              </a:ext>
            </a:extLst>
          </p:cNvPr>
          <p:cNvSpPr txBox="1"/>
          <p:nvPr/>
        </p:nvSpPr>
        <p:spPr>
          <a:xfrm>
            <a:off x="8191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5D23794-1159-4A4B-85A0-36B7FC3E918A}"/>
              </a:ext>
            </a:extLst>
          </p:cNvPr>
          <p:cNvSpPr txBox="1"/>
          <p:nvPr/>
        </p:nvSpPr>
        <p:spPr>
          <a:xfrm>
            <a:off x="8191500" y="18669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Track your results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EE056F1-39CA-451B-80FF-0D9A81CDEE86}"/>
              </a:ext>
            </a:extLst>
          </p:cNvPr>
          <p:cNvSpPr txBox="1"/>
          <p:nvPr/>
        </p:nvSpPr>
        <p:spPr>
          <a:xfrm>
            <a:off x="8191500" y="2190750"/>
            <a:ext cx="3048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Sell, scan and follow revenue and stock through clear reports.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6A4EFDB-1555-4480-9485-3BD927E9E549}"/>
              </a:ext>
            </a:extLst>
          </p:cNvPr>
          <p:cNvSpPr/>
          <p:nvPr/>
        </p:nvSpPr>
        <p:spPr>
          <a:xfrm>
            <a:off x="762000" y="3810000"/>
            <a:ext cx="10668000" cy="20955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8E5AE58-5585-4D89-8ADD-E5551CD573EA}"/>
              </a:ext>
            </a:extLst>
          </p:cNvPr>
          <p:cNvSpPr txBox="1"/>
          <p:nvPr/>
        </p:nvSpPr>
        <p:spPr>
          <a:xfrm>
            <a:off x="1104900" y="4038600"/>
            <a:ext cx="3810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READY TO START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B33B3D0-9444-4E74-BB60-15DEAFE8754B}"/>
              </a:ext>
            </a:extLst>
          </p:cNvPr>
          <p:cNvSpPr txBox="1"/>
          <p:nvPr/>
        </p:nvSpPr>
        <p:spPr>
          <a:xfrm>
            <a:off x="1104900" y="4305300"/>
            <a:ext cx="6096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4F4F8"/>
                </a:solidFill>
                <a:latin typeface="Segoe UI"/>
                <a:ea typeface="Segoe UI"/>
              </a:rPr>
              <a:t>Open your store today.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767692B-B70E-4E87-A3EC-2868EC719086}"/>
              </a:ext>
            </a:extLst>
          </p:cNvPr>
          <p:cNvSpPr txBox="1"/>
          <p:nvPr/>
        </p:nvSpPr>
        <p:spPr>
          <a:xfrm>
            <a:off x="1104900" y="4933950"/>
            <a:ext cx="5334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A7A7B8"/>
                </a:solidFill>
                <a:latin typeface="Segoe UI"/>
                <a:ea typeface="Segoe UI"/>
              </a:rPr>
              <a:t>Registration is free. No installation — it works on your phone.</a:t>
            </a:r>
          </a:p>
        </p:txBody>
      </p:sp>
      <p:sp>
        <p:nvSpPr>
          <p:cNvPr id="21" name="Shape 21">
            <a:hlinkClick xmlns:r="http://schemas.openxmlformats.org/officeDocument/2006/relationships" r:id="rId2"/>
            <a:extLst>
              <a:ext uri="{FF2B5EF4-FFF2-40B4-BE49-F238E27FC236}">
                <a16:creationId xmlns:a16="http://schemas.microsoft.com/office/drawing/2014/main" id="{564BE368-3F3D-4508-BF88-018D7B6661BB}"/>
              </a:ext>
            </a:extLst>
          </p:cNvPr>
          <p:cNvSpPr/>
          <p:nvPr/>
        </p:nvSpPr>
        <p:spPr>
          <a:xfrm>
            <a:off x="7962900" y="4419600"/>
            <a:ext cx="2952750" cy="590550"/>
          </a:xfrm>
          <a:prstGeom prst="roundRect">
            <a:avLst/>
          </a:prstGeom>
          <a:solidFill>
            <a:srgbClr val="6D5EF5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Start for free  →</a:t>
            </a:r>
          </a:p>
        </p:txBody>
      </p:sp>
      <p:sp>
        <p:nvSpPr>
          <p:cNvPr id="22" name="TextBox 22">
            <a:hlinkClick xmlns:r="http://schemas.openxmlformats.org/officeDocument/2006/relationships" r:id="rId3"/>
            <a:extLst>
              <a:ext uri="{FF2B5EF4-FFF2-40B4-BE49-F238E27FC236}">
                <a16:creationId xmlns:a16="http://schemas.microsoft.com/office/drawing/2014/main" id="{0BE716F0-260D-452E-89B0-8BBCBCF454B7}"/>
              </a:ext>
            </a:extLst>
          </p:cNvPr>
          <p:cNvSpPr txBox="1"/>
          <p:nvPr/>
        </p:nvSpPr>
        <p:spPr>
          <a:xfrm>
            <a:off x="7962900" y="5143500"/>
            <a:ext cx="295275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B49CFF"/>
                </a:solidFill>
                <a:latin typeface="Segoe UI"/>
                <a:ea typeface="Segoe UI"/>
              </a:rPr>
              <a:t>crm-inventory-chi.vercel.app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4472533-CA08-41AC-9B76-AB97F5336986}"/>
              </a:ext>
            </a:extLst>
          </p:cNvPr>
          <p:cNvSpPr txBox="1"/>
          <p:nvPr/>
        </p:nvSpPr>
        <p:spPr>
          <a:xfrm>
            <a:off x="762000" y="6324600"/>
            <a:ext cx="7620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Logixia · Stock management in real time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ECBB909-12C9-495B-BD61-9243DEB35A0A}"/>
              </a:ext>
            </a:extLst>
          </p:cNvPr>
          <p:cNvSpPr txBox="1"/>
          <p:nvPr/>
        </p:nvSpPr>
        <p:spPr>
          <a:xfrm>
            <a:off x="10287000" y="6324600"/>
            <a:ext cx="11430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